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Archivo Black" charset="1" panose="020B0A03020202020B04"/>
      <p:regular r:id="rId38"/>
    </p:embeddedFont>
    <p:embeddedFont>
      <p:font typeface="Garet Bold" charset="1" panose="00000000000000000000"/>
      <p:regular r:id="rId39"/>
    </p:embeddedFont>
    <p:embeddedFont>
      <p:font typeface="Garet" charset="1" panose="00000000000000000000"/>
      <p:regular r:id="rId40"/>
    </p:embeddedFont>
    <p:embeddedFont>
      <p:font typeface="Garet Light" charset="1" panose="000000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media/image1.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3.png" Type="http://schemas.openxmlformats.org/officeDocument/2006/relationships/image"/><Relationship Id="rId8"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 Id="rId5" Target="../media/image35.jpeg" Type="http://schemas.openxmlformats.org/officeDocument/2006/relationships/image"/><Relationship Id="rId6" Target="../media/image36.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 Id="rId5" Target="../media/image39.jpeg" Type="http://schemas.openxmlformats.org/officeDocument/2006/relationships/image"/><Relationship Id="rId6" Target="../media/image40.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 Id="rId5" Target="../media/image43.jpeg" Type="http://schemas.openxmlformats.org/officeDocument/2006/relationships/image"/><Relationship Id="rId6" Target="../media/image44.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7.png" Type="http://schemas.openxmlformats.org/officeDocument/2006/relationships/image"/><Relationship Id="rId4" Target="../media/image3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1.png" Type="http://schemas.openxmlformats.org/officeDocument/2006/relationships/image"/><Relationship Id="rId4" Target="../media/image4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5.png" Type="http://schemas.openxmlformats.org/officeDocument/2006/relationships/image"/><Relationship Id="rId4" Target="../media/image4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3.png" Type="http://schemas.openxmlformats.org/officeDocument/2006/relationships/image"/><Relationship Id="rId4" Target="../media/image34.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5379298" y="8311463"/>
            <a:ext cx="1880002" cy="946837"/>
          </a:xfrm>
          <a:custGeom>
            <a:avLst/>
            <a:gdLst/>
            <a:ahLst/>
            <a:cxnLst/>
            <a:rect r="r" b="b" t="t" l="l"/>
            <a:pathLst>
              <a:path h="946837" w="1880002">
                <a:moveTo>
                  <a:pt x="0" y="0"/>
                </a:moveTo>
                <a:lnTo>
                  <a:pt x="1880002" y="0"/>
                </a:lnTo>
                <a:lnTo>
                  <a:pt x="1880002" y="946837"/>
                </a:lnTo>
                <a:lnTo>
                  <a:pt x="0" y="9468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1028700"/>
            <a:ext cx="797433" cy="707541"/>
          </a:xfrm>
          <a:custGeom>
            <a:avLst/>
            <a:gdLst/>
            <a:ahLst/>
            <a:cxnLst/>
            <a:rect r="r" b="b" t="t" l="l"/>
            <a:pathLst>
              <a:path h="707541" w="797433">
                <a:moveTo>
                  <a:pt x="0" y="0"/>
                </a:moveTo>
                <a:lnTo>
                  <a:pt x="797433" y="0"/>
                </a:lnTo>
                <a:lnTo>
                  <a:pt x="797433" y="707541"/>
                </a:lnTo>
                <a:lnTo>
                  <a:pt x="0" y="7075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7885470" y="6394076"/>
            <a:ext cx="9373830" cy="719648"/>
          </a:xfrm>
          <a:prstGeom prst="rect">
            <a:avLst/>
          </a:prstGeom>
        </p:spPr>
        <p:txBody>
          <a:bodyPr anchor="t" rtlCol="false" tIns="0" lIns="0" bIns="0" rIns="0">
            <a:spAutoFit/>
          </a:bodyPr>
          <a:lstStyle/>
          <a:p>
            <a:pPr algn="r" marL="0" indent="0" lvl="0">
              <a:lnSpc>
                <a:spcPts val="2748"/>
              </a:lnSpc>
              <a:spcBef>
                <a:spcPct val="0"/>
              </a:spcBef>
            </a:pPr>
            <a:r>
              <a:rPr lang="en-US" sz="2748" spc="-217">
                <a:solidFill>
                  <a:srgbClr val="000000"/>
                </a:solidFill>
                <a:latin typeface="Archivo Black"/>
                <a:ea typeface="Archivo Black"/>
                <a:cs typeface="Archivo Black"/>
                <a:sym typeface="Archivo Black"/>
              </a:rPr>
              <a:t>Multi-Label Chest X-Ray Disease Classification and Explainability with Deep Learning</a:t>
            </a:r>
          </a:p>
        </p:txBody>
      </p:sp>
      <p:grpSp>
        <p:nvGrpSpPr>
          <p:cNvPr name="Group 6" id="6"/>
          <p:cNvGrpSpPr/>
          <p:nvPr/>
        </p:nvGrpSpPr>
        <p:grpSpPr>
          <a:xfrm rot="0">
            <a:off x="701052" y="8089379"/>
            <a:ext cx="7184418" cy="1986532"/>
            <a:chOff x="0" y="0"/>
            <a:chExt cx="9579224" cy="2648709"/>
          </a:xfrm>
        </p:grpSpPr>
        <p:sp>
          <p:nvSpPr>
            <p:cNvPr name="TextBox 7" id="7"/>
            <p:cNvSpPr txBox="true"/>
            <p:nvPr/>
          </p:nvSpPr>
          <p:spPr>
            <a:xfrm rot="0">
              <a:off x="0" y="-19050"/>
              <a:ext cx="4933466" cy="366193"/>
            </a:xfrm>
            <a:prstGeom prst="rect">
              <a:avLst/>
            </a:prstGeom>
          </p:spPr>
          <p:txBody>
            <a:bodyPr anchor="t" rtlCol="false" tIns="0" lIns="0" bIns="0" rIns="0">
              <a:spAutoFit/>
            </a:bodyPr>
            <a:lstStyle/>
            <a:p>
              <a:pPr algn="l" marL="0" indent="0" lvl="0">
                <a:lnSpc>
                  <a:spcPts val="2286"/>
                </a:lnSpc>
                <a:spcBef>
                  <a:spcPct val="0"/>
                </a:spcBef>
              </a:pPr>
              <a:r>
                <a:rPr lang="en-US" b="true" sz="1758">
                  <a:solidFill>
                    <a:srgbClr val="2B2B2B"/>
                  </a:solidFill>
                  <a:latin typeface="Garet Bold"/>
                  <a:ea typeface="Garet Bold"/>
                  <a:cs typeface="Garet Bold"/>
                  <a:sym typeface="Garet Bold"/>
                </a:rPr>
                <a:t>PRESENTED BY:</a:t>
              </a:r>
            </a:p>
          </p:txBody>
        </p:sp>
        <p:sp>
          <p:nvSpPr>
            <p:cNvPr name="TextBox 8" id="8"/>
            <p:cNvSpPr txBox="true"/>
            <p:nvPr/>
          </p:nvSpPr>
          <p:spPr>
            <a:xfrm rot="0">
              <a:off x="0" y="397894"/>
              <a:ext cx="4933466" cy="2250815"/>
            </a:xfrm>
            <a:prstGeom prst="rect">
              <a:avLst/>
            </a:prstGeom>
          </p:spPr>
          <p:txBody>
            <a:bodyPr anchor="t" rtlCol="false" tIns="0" lIns="0" bIns="0" rIns="0">
              <a:spAutoFit/>
            </a:bodyPr>
            <a:lstStyle/>
            <a:p>
              <a:pPr algn="l">
                <a:lnSpc>
                  <a:spcPts val="2286"/>
                </a:lnSpc>
              </a:pPr>
              <a:r>
                <a:rPr lang="en-US" sz="1758">
                  <a:solidFill>
                    <a:srgbClr val="2B2B2B"/>
                  </a:solidFill>
                  <a:latin typeface="Garet"/>
                  <a:ea typeface="Garet"/>
                  <a:cs typeface="Garet"/>
                  <a:sym typeface="Garet"/>
                </a:rPr>
                <a:t>Yaren AKDOĞAN</a:t>
              </a:r>
            </a:p>
            <a:p>
              <a:pPr algn="l">
                <a:lnSpc>
                  <a:spcPts val="2286"/>
                </a:lnSpc>
              </a:pPr>
              <a:r>
                <a:rPr lang="en-US" sz="1758">
                  <a:solidFill>
                    <a:srgbClr val="2B2B2B"/>
                  </a:solidFill>
                  <a:latin typeface="Garet"/>
                  <a:ea typeface="Garet"/>
                  <a:cs typeface="Garet"/>
                  <a:sym typeface="Garet"/>
                </a:rPr>
                <a:t>Sezin KÖROĞLU</a:t>
              </a:r>
            </a:p>
            <a:p>
              <a:pPr algn="l">
                <a:lnSpc>
                  <a:spcPts val="2286"/>
                </a:lnSpc>
              </a:pPr>
              <a:r>
                <a:rPr lang="en-US" sz="1758">
                  <a:solidFill>
                    <a:srgbClr val="2B2B2B"/>
                  </a:solidFill>
                  <a:latin typeface="Garet"/>
                  <a:ea typeface="Garet"/>
                  <a:cs typeface="Garet"/>
                  <a:sym typeface="Garet"/>
                </a:rPr>
                <a:t>Cevdet Alp ÖZGÜN</a:t>
              </a:r>
            </a:p>
            <a:p>
              <a:pPr algn="l">
                <a:lnSpc>
                  <a:spcPts val="2286"/>
                </a:lnSpc>
              </a:pPr>
              <a:r>
                <a:rPr lang="en-US" sz="1758">
                  <a:solidFill>
                    <a:srgbClr val="2B2B2B"/>
                  </a:solidFill>
                  <a:latin typeface="Garet"/>
                  <a:ea typeface="Garet"/>
                  <a:cs typeface="Garet"/>
                  <a:sym typeface="Garet"/>
                </a:rPr>
                <a:t>İpek BAŞ</a:t>
              </a:r>
            </a:p>
            <a:p>
              <a:pPr algn="l">
                <a:lnSpc>
                  <a:spcPts val="2286"/>
                </a:lnSpc>
              </a:pPr>
              <a:r>
                <a:rPr lang="en-US" sz="1758">
                  <a:solidFill>
                    <a:srgbClr val="2B2B2B"/>
                  </a:solidFill>
                  <a:latin typeface="Garet"/>
                  <a:ea typeface="Garet"/>
                  <a:cs typeface="Garet"/>
                  <a:sym typeface="Garet"/>
                </a:rPr>
                <a:t>Salih Barkın AKKAYA</a:t>
              </a:r>
            </a:p>
            <a:p>
              <a:pPr algn="l" marL="0" indent="0" lvl="0">
                <a:lnSpc>
                  <a:spcPts val="2286"/>
                </a:lnSpc>
                <a:spcBef>
                  <a:spcPct val="0"/>
                </a:spcBef>
              </a:pPr>
              <a:r>
                <a:rPr lang="en-US" sz="1758">
                  <a:solidFill>
                    <a:srgbClr val="2B2B2B"/>
                  </a:solidFill>
                  <a:latin typeface="Garet"/>
                  <a:ea typeface="Garet"/>
                  <a:cs typeface="Garet"/>
                  <a:sym typeface="Garet"/>
                </a:rPr>
                <a:t>İbrahimTAŞPINAR </a:t>
              </a:r>
            </a:p>
          </p:txBody>
        </p:sp>
        <p:sp>
          <p:nvSpPr>
            <p:cNvPr name="TextBox 9" id="9"/>
            <p:cNvSpPr txBox="true"/>
            <p:nvPr/>
          </p:nvSpPr>
          <p:spPr>
            <a:xfrm rot="0">
              <a:off x="4645758" y="-19050"/>
              <a:ext cx="4933466" cy="366193"/>
            </a:xfrm>
            <a:prstGeom prst="rect">
              <a:avLst/>
            </a:prstGeom>
          </p:spPr>
          <p:txBody>
            <a:bodyPr anchor="t" rtlCol="false" tIns="0" lIns="0" bIns="0" rIns="0">
              <a:spAutoFit/>
            </a:bodyPr>
            <a:lstStyle/>
            <a:p>
              <a:pPr algn="l" marL="0" indent="0" lvl="0">
                <a:lnSpc>
                  <a:spcPts val="2286"/>
                </a:lnSpc>
                <a:spcBef>
                  <a:spcPct val="0"/>
                </a:spcBef>
              </a:pPr>
              <a:r>
                <a:rPr lang="en-US" b="true" sz="1758">
                  <a:solidFill>
                    <a:srgbClr val="2B2B2B"/>
                  </a:solidFill>
                  <a:latin typeface="Garet Bold"/>
                  <a:ea typeface="Garet Bold"/>
                  <a:cs typeface="Garet Bold"/>
                  <a:sym typeface="Garet Bold"/>
                </a:rPr>
                <a:t>PRESENTED TO:</a:t>
              </a:r>
            </a:p>
          </p:txBody>
        </p:sp>
        <p:sp>
          <p:nvSpPr>
            <p:cNvPr name="TextBox 10" id="10"/>
            <p:cNvSpPr txBox="true"/>
            <p:nvPr/>
          </p:nvSpPr>
          <p:spPr>
            <a:xfrm rot="0">
              <a:off x="4645758" y="397894"/>
              <a:ext cx="4933466" cy="743117"/>
            </a:xfrm>
            <a:prstGeom prst="rect">
              <a:avLst/>
            </a:prstGeom>
          </p:spPr>
          <p:txBody>
            <a:bodyPr anchor="t" rtlCol="false" tIns="0" lIns="0" bIns="0" rIns="0">
              <a:spAutoFit/>
            </a:bodyPr>
            <a:lstStyle/>
            <a:p>
              <a:pPr algn="l" marL="0" indent="0" lvl="0">
                <a:lnSpc>
                  <a:spcPts val="2286"/>
                </a:lnSpc>
                <a:spcBef>
                  <a:spcPct val="0"/>
                </a:spcBef>
              </a:pPr>
              <a:r>
                <a:rPr lang="en-US" sz="1758">
                  <a:solidFill>
                    <a:srgbClr val="2B2B2B"/>
                  </a:solidFill>
                  <a:latin typeface="Garet"/>
                  <a:ea typeface="Garet"/>
                  <a:cs typeface="Garet"/>
                  <a:sym typeface="Garet"/>
                </a:rPr>
                <a:t>Cankaya University Computer Engineering Department </a:t>
              </a:r>
            </a:p>
          </p:txBody>
        </p:sp>
      </p:grpSp>
      <p:sp>
        <p:nvSpPr>
          <p:cNvPr name="TextBox 11" id="11"/>
          <p:cNvSpPr txBox="true"/>
          <p:nvPr/>
        </p:nvSpPr>
        <p:spPr>
          <a:xfrm rot="0">
            <a:off x="1959176" y="990600"/>
            <a:ext cx="4321082" cy="621030"/>
          </a:xfrm>
          <a:prstGeom prst="rect">
            <a:avLst/>
          </a:prstGeom>
        </p:spPr>
        <p:txBody>
          <a:bodyPr anchor="t" rtlCol="false" tIns="0" lIns="0" bIns="0" rIns="0">
            <a:spAutoFit/>
          </a:bodyPr>
          <a:lstStyle/>
          <a:p>
            <a:pPr algn="l">
              <a:lnSpc>
                <a:spcPts val="2520"/>
              </a:lnSpc>
            </a:pPr>
            <a:r>
              <a:rPr lang="en-US" sz="1800">
                <a:solidFill>
                  <a:srgbClr val="545454"/>
                </a:solidFill>
                <a:latin typeface="Garet Light"/>
                <a:ea typeface="Garet Light"/>
                <a:cs typeface="Garet Light"/>
                <a:sym typeface="Garet Light"/>
              </a:rPr>
              <a:t>CENG408 2025-2026</a:t>
            </a:r>
          </a:p>
          <a:p>
            <a:pPr algn="l">
              <a:lnSpc>
                <a:spcPts val="2520"/>
              </a:lnSpc>
            </a:pPr>
            <a:r>
              <a:rPr lang="en-US" sz="1800">
                <a:solidFill>
                  <a:srgbClr val="545454"/>
                </a:solidFill>
                <a:latin typeface="Garet Light"/>
                <a:ea typeface="Garet Light"/>
                <a:cs typeface="Garet Light"/>
                <a:sym typeface="Garet Light"/>
              </a:rPr>
              <a:t>02/06/2026</a:t>
            </a:r>
          </a:p>
        </p:txBody>
      </p:sp>
      <p:sp>
        <p:nvSpPr>
          <p:cNvPr name="TextBox 12" id="12"/>
          <p:cNvSpPr txBox="true"/>
          <p:nvPr/>
        </p:nvSpPr>
        <p:spPr>
          <a:xfrm rot="0">
            <a:off x="6485854" y="3950633"/>
            <a:ext cx="10773446" cy="1228313"/>
          </a:xfrm>
          <a:prstGeom prst="rect">
            <a:avLst/>
          </a:prstGeom>
        </p:spPr>
        <p:txBody>
          <a:bodyPr anchor="t" rtlCol="false" tIns="0" lIns="0" bIns="0" rIns="0">
            <a:spAutoFit/>
          </a:bodyPr>
          <a:lstStyle/>
          <a:p>
            <a:pPr algn="r" marL="0" indent="0" lvl="0">
              <a:lnSpc>
                <a:spcPts val="8490"/>
              </a:lnSpc>
              <a:spcBef>
                <a:spcPct val="0"/>
              </a:spcBef>
            </a:pPr>
            <a:r>
              <a:rPr lang="en-US" sz="10885" spc="-859">
                <a:solidFill>
                  <a:srgbClr val="000000"/>
                </a:solidFill>
                <a:latin typeface="Archivo Black"/>
                <a:ea typeface="Archivo Black"/>
                <a:cs typeface="Archivo Black"/>
                <a:sym typeface="Archivo Black"/>
              </a:rPr>
              <a:t>CHEST XPLAIN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aphicFrame>
        <p:nvGraphicFramePr>
          <p:cNvPr name="Table 3" id="3"/>
          <p:cNvGraphicFramePr>
            <a:graphicFrameLocks noGrp="true"/>
          </p:cNvGraphicFramePr>
          <p:nvPr/>
        </p:nvGraphicFramePr>
        <p:xfrm>
          <a:off x="10230347" y="1047750"/>
          <a:ext cx="7028953" cy="8210550"/>
        </p:xfrm>
        <a:graphic>
          <a:graphicData uri="http://schemas.openxmlformats.org/drawingml/2006/table">
            <a:tbl>
              <a:tblPr/>
              <a:tblGrid>
                <a:gridCol w="905163"/>
                <a:gridCol w="5961962"/>
              </a:tblGrid>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1</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Project Introduction &amp;Problem Definition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2</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Motivation &amp; Objectives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3</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Dataset and Preprocessing</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4</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Deep Learning Architecture</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5</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Explainable AI with Grad-CAM++</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6</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Backend System Design</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7</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Mobile Application Development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8</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b="true" sz="1999" strike="noStrike" u="none">
                          <a:solidFill>
                            <a:srgbClr val="000000"/>
                          </a:solidFill>
                          <a:latin typeface="Garet Bold"/>
                          <a:ea typeface="Garet Bold"/>
                          <a:cs typeface="Garet Bold"/>
                          <a:sym typeface="Garet Bold"/>
                        </a:rPr>
                        <a:t>TIGA Feedback &amp; Project Impact</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9</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Conclusion &amp; Future Work</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r h="821055">
                <a:tc>
                  <a:txBody>
                    <a:bodyPr anchor="t" rtlCol="false"/>
                    <a:lstStyle/>
                    <a:p>
                      <a:pPr algn="ctr">
                        <a:lnSpc>
                          <a:spcPts val="2799"/>
                        </a:lnSpc>
                        <a:defRPr/>
                      </a:pPr>
                      <a:r>
                        <a:rPr lang="en-US" sz="1999" b="true">
                          <a:solidFill>
                            <a:srgbClr val="000000"/>
                          </a:solidFill>
                          <a:latin typeface="Garet Bold"/>
                          <a:ea typeface="Garet Bold"/>
                          <a:cs typeface="Garet Bold"/>
                          <a:sym typeface="Garet Bold"/>
                        </a:rPr>
                        <a:t>10</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c>
                  <a:txBody>
                    <a:bodyPr anchor="t" rtlCol="false"/>
                    <a:lstStyle/>
                    <a:p>
                      <a:pPr algn="l">
                        <a:lnSpc>
                          <a:spcPts val="2799"/>
                        </a:lnSpc>
                        <a:defRPr/>
                      </a:pPr>
                      <a:r>
                        <a:rPr lang="en-US" sz="1999" b="true">
                          <a:solidFill>
                            <a:srgbClr val="000000"/>
                          </a:solidFill>
                          <a:latin typeface="Garet Bold"/>
                          <a:ea typeface="Garet Bold"/>
                          <a:cs typeface="Garet Bold"/>
                          <a:sym typeface="Garet Bold"/>
                        </a:rPr>
                        <a:t>References</a:t>
                      </a:r>
                      <a:endParaRPr lang="en-US" sz="1100"/>
                    </a:p>
                  </a:txBody>
                  <a:tcPr marL="190500" marR="190500" marT="190500" marB="190500" anchor="ctr">
                    <a:lnL cmpd="sng" algn="ctr" cap="flat" w="19050">
                      <a:solidFill>
                        <a:srgbClr val="000000"/>
                      </a:solidFill>
                      <a:prstDash val="solid"/>
                      <a:round/>
                      <a:headEnd type="none" w="med" len="med"/>
                      <a:tailEnd type="none" w="med" len="med"/>
                    </a:lnL>
                    <a:lnR cmpd="sng" algn="ctr" cap="flat" w="19050">
                      <a:solidFill>
                        <a:srgbClr val="000000"/>
                      </a:solidFill>
                      <a:prstDash val="solid"/>
                      <a:round/>
                      <a:headEnd type="none" w="med" len="med"/>
                      <a:tailEnd type="none" w="med" len="med"/>
                    </a:lnR>
                    <a:lnT cmpd="sng" algn="ctr" cap="flat" w="19050">
                      <a:solidFill>
                        <a:srgbClr val="000000"/>
                      </a:solidFill>
                      <a:prstDash val="solid"/>
                      <a:round/>
                      <a:headEnd type="none" w="med" len="med"/>
                      <a:tailEnd type="none" w="med" len="med"/>
                    </a:lnT>
                    <a:lnB cmpd="sng" algn="ctr" cap="flat" w="19050">
                      <a:solidFill>
                        <a:srgbClr val="000000"/>
                      </a:solidFill>
                      <a:prstDash val="solid"/>
                      <a:round/>
                      <a:headEnd type="none" w="med" len="med"/>
                      <a:tailEnd type="none" w="med" len="med"/>
                    </a:lnB>
                  </a:tcPr>
                </a:tc>
              </a:tr>
            </a:tbl>
          </a:graphicData>
        </a:graphic>
      </p:graphicFrame>
      <p:sp>
        <p:nvSpPr>
          <p:cNvPr name="Freeform 4" id="4"/>
          <p:cNvSpPr/>
          <p:nvPr/>
        </p:nvSpPr>
        <p:spPr>
          <a:xfrm flipH="false" flipV="false" rot="0">
            <a:off x="-706637" y="1559650"/>
            <a:ext cx="9125543" cy="7167700"/>
          </a:xfrm>
          <a:custGeom>
            <a:avLst/>
            <a:gdLst/>
            <a:ahLst/>
            <a:cxnLst/>
            <a:rect r="r" b="b" t="t" l="l"/>
            <a:pathLst>
              <a:path h="7167700" w="9125543">
                <a:moveTo>
                  <a:pt x="0" y="0"/>
                </a:moveTo>
                <a:lnTo>
                  <a:pt x="9125544" y="0"/>
                </a:lnTo>
                <a:lnTo>
                  <a:pt x="9125544" y="7167700"/>
                </a:lnTo>
                <a:lnTo>
                  <a:pt x="0" y="71677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604641" y="2439692"/>
            <a:ext cx="6531462" cy="785704"/>
          </a:xfrm>
          <a:prstGeom prst="rect">
            <a:avLst/>
          </a:prstGeom>
        </p:spPr>
        <p:txBody>
          <a:bodyPr anchor="t" rtlCol="false" tIns="0" lIns="0" bIns="0" rIns="0">
            <a:spAutoFit/>
          </a:bodyPr>
          <a:lstStyle/>
          <a:p>
            <a:pPr algn="just" marL="0" indent="0" lvl="0">
              <a:lnSpc>
                <a:spcPts val="5808"/>
              </a:lnSpc>
              <a:spcBef>
                <a:spcPct val="0"/>
              </a:spcBef>
            </a:pPr>
            <a:r>
              <a:rPr lang="en-US" sz="5808" spc="-458">
                <a:solidFill>
                  <a:srgbClr val="FFFFFF"/>
                </a:solidFill>
                <a:latin typeface="Archivo Black"/>
                <a:ea typeface="Archivo Black"/>
                <a:cs typeface="Archivo Black"/>
                <a:sym typeface="Archivo Black"/>
              </a:rPr>
              <a:t>OVERVIEW</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pSp>
        <p:nvGrpSpPr>
          <p:cNvPr name="Group 3" id="3"/>
          <p:cNvGrpSpPr>
            <a:grpSpLocks noChangeAspect="true"/>
          </p:cNvGrpSpPr>
          <p:nvPr/>
        </p:nvGrpSpPr>
        <p:grpSpPr>
          <a:xfrm rot="0">
            <a:off x="695904" y="279082"/>
            <a:ext cx="3261144" cy="3261144"/>
            <a:chOff x="0" y="0"/>
            <a:chExt cx="8790178" cy="8790178"/>
          </a:xfrm>
        </p:grpSpPr>
        <p:sp>
          <p:nvSpPr>
            <p:cNvPr name="Freeform 4" id="4"/>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3"/>
              <a:stretch>
                <a:fillRect l="0" t="0" r="0" b="0"/>
              </a:stretch>
            </a:blipFill>
          </p:spPr>
        </p:sp>
        <p:sp>
          <p:nvSpPr>
            <p:cNvPr name="Freeform 5" id="5"/>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6" id="6"/>
          <p:cNvGrpSpPr>
            <a:grpSpLocks noChangeAspect="true"/>
          </p:cNvGrpSpPr>
          <p:nvPr/>
        </p:nvGrpSpPr>
        <p:grpSpPr>
          <a:xfrm rot="0">
            <a:off x="793177" y="5431400"/>
            <a:ext cx="3261144" cy="3261144"/>
            <a:chOff x="0" y="0"/>
            <a:chExt cx="8790178" cy="8790178"/>
          </a:xfrm>
        </p:grpSpPr>
        <p:sp>
          <p:nvSpPr>
            <p:cNvPr name="Freeform 7" id="7"/>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4"/>
              <a:stretch>
                <a:fillRect l="0" t="0" r="0" b="0"/>
              </a:stretch>
            </a:blipFill>
          </p:spPr>
        </p:sp>
        <p:sp>
          <p:nvSpPr>
            <p:cNvPr name="Freeform 8" id="8"/>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9" id="9"/>
          <p:cNvGrpSpPr>
            <a:grpSpLocks noChangeAspect="true"/>
          </p:cNvGrpSpPr>
          <p:nvPr/>
        </p:nvGrpSpPr>
        <p:grpSpPr>
          <a:xfrm rot="0">
            <a:off x="13998156" y="5431400"/>
            <a:ext cx="3236310" cy="3236310"/>
            <a:chOff x="0" y="0"/>
            <a:chExt cx="8790178" cy="8790178"/>
          </a:xfrm>
        </p:grpSpPr>
        <p:sp>
          <p:nvSpPr>
            <p:cNvPr name="Freeform 10" id="10"/>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5"/>
              <a:stretch>
                <a:fillRect l="0" t="-8224" r="0" b="-8224"/>
              </a:stretch>
            </a:blipFill>
          </p:spPr>
        </p:sp>
        <p:sp>
          <p:nvSpPr>
            <p:cNvPr name="Freeform 11" id="11"/>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12" id="12"/>
          <p:cNvGrpSpPr>
            <a:grpSpLocks noChangeAspect="true"/>
          </p:cNvGrpSpPr>
          <p:nvPr/>
        </p:nvGrpSpPr>
        <p:grpSpPr>
          <a:xfrm rot="0">
            <a:off x="13998156" y="279082"/>
            <a:ext cx="3261144" cy="3261144"/>
            <a:chOff x="0" y="0"/>
            <a:chExt cx="8790178" cy="8790178"/>
          </a:xfrm>
        </p:grpSpPr>
        <p:sp>
          <p:nvSpPr>
            <p:cNvPr name="Freeform 13" id="13"/>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6"/>
              <a:stretch>
                <a:fillRect l="0" t="0" r="0" b="0"/>
              </a:stretch>
            </a:blipFill>
          </p:spPr>
        </p:sp>
        <p:sp>
          <p:nvSpPr>
            <p:cNvPr name="Freeform 14" id="14"/>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sp>
        <p:nvSpPr>
          <p:cNvPr name="Freeform 15" id="15"/>
          <p:cNvSpPr/>
          <p:nvPr/>
        </p:nvSpPr>
        <p:spPr>
          <a:xfrm flipH="false" flipV="false" rot="0">
            <a:off x="4603286" y="1598090"/>
            <a:ext cx="624692" cy="623129"/>
          </a:xfrm>
          <a:custGeom>
            <a:avLst/>
            <a:gdLst/>
            <a:ahLst/>
            <a:cxnLst/>
            <a:rect r="r" b="b" t="t" l="l"/>
            <a:pathLst>
              <a:path h="623129" w="624692">
                <a:moveTo>
                  <a:pt x="0" y="0"/>
                </a:moveTo>
                <a:lnTo>
                  <a:pt x="624692" y="0"/>
                </a:lnTo>
                <a:lnTo>
                  <a:pt x="624692"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16" id="16"/>
          <p:cNvSpPr/>
          <p:nvPr/>
        </p:nvSpPr>
        <p:spPr>
          <a:xfrm flipH="false" flipV="false" rot="0">
            <a:off x="4603286" y="6750407"/>
            <a:ext cx="624692" cy="623129"/>
          </a:xfrm>
          <a:custGeom>
            <a:avLst/>
            <a:gdLst/>
            <a:ahLst/>
            <a:cxnLst/>
            <a:rect r="r" b="b" t="t" l="l"/>
            <a:pathLst>
              <a:path h="623129" w="624692">
                <a:moveTo>
                  <a:pt x="0" y="0"/>
                </a:moveTo>
                <a:lnTo>
                  <a:pt x="624692" y="0"/>
                </a:lnTo>
                <a:lnTo>
                  <a:pt x="624692"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17" id="17"/>
          <p:cNvSpPr/>
          <p:nvPr/>
        </p:nvSpPr>
        <p:spPr>
          <a:xfrm flipH="false" flipV="false" rot="0">
            <a:off x="13059580" y="1598090"/>
            <a:ext cx="624692" cy="623129"/>
          </a:xfrm>
          <a:custGeom>
            <a:avLst/>
            <a:gdLst/>
            <a:ahLst/>
            <a:cxnLst/>
            <a:rect r="r" b="b" t="t" l="l"/>
            <a:pathLst>
              <a:path h="623129" w="624692">
                <a:moveTo>
                  <a:pt x="0" y="0"/>
                </a:moveTo>
                <a:lnTo>
                  <a:pt x="624692" y="0"/>
                </a:lnTo>
                <a:lnTo>
                  <a:pt x="624692"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sp>
        <p:nvSpPr>
          <p:cNvPr name="Freeform 18" id="18"/>
          <p:cNvSpPr/>
          <p:nvPr/>
        </p:nvSpPr>
        <p:spPr>
          <a:xfrm flipH="false" flipV="false" rot="0">
            <a:off x="13059580" y="7037137"/>
            <a:ext cx="624692" cy="623129"/>
          </a:xfrm>
          <a:custGeom>
            <a:avLst/>
            <a:gdLst/>
            <a:ahLst/>
            <a:cxnLst/>
            <a:rect r="r" b="b" t="t" l="l"/>
            <a:pathLst>
              <a:path h="623129" w="624692">
                <a:moveTo>
                  <a:pt x="0" y="0"/>
                </a:moveTo>
                <a:lnTo>
                  <a:pt x="624692" y="0"/>
                </a:lnTo>
                <a:lnTo>
                  <a:pt x="624692" y="623129"/>
                </a:lnTo>
                <a:lnTo>
                  <a:pt x="0" y="623129"/>
                </a:lnTo>
                <a:lnTo>
                  <a:pt x="0" y="0"/>
                </a:lnTo>
                <a:close/>
              </a:path>
            </a:pathLst>
          </a:custGeom>
          <a:blipFill>
            <a:blip r:embed="rId7">
              <a:extLst>
                <a:ext uri="{96DAC541-7B7A-43D3-8B79-37D633B846F1}">
                  <asvg:svgBlip xmlns:asvg="http://schemas.microsoft.com/office/drawing/2016/SVG/main" r:embed="rId8"/>
                </a:ext>
              </a:extLst>
            </a:blip>
            <a:stretch>
              <a:fillRect l="-117870" t="0" r="0" b="-122462"/>
            </a:stretch>
          </a:blipFill>
        </p:spPr>
      </p:sp>
      <p:grpSp>
        <p:nvGrpSpPr>
          <p:cNvPr name="Group 19" id="19"/>
          <p:cNvGrpSpPr>
            <a:grpSpLocks noChangeAspect="true"/>
          </p:cNvGrpSpPr>
          <p:nvPr/>
        </p:nvGrpSpPr>
        <p:grpSpPr>
          <a:xfrm rot="0">
            <a:off x="5146063" y="2938298"/>
            <a:ext cx="3261144" cy="3261144"/>
            <a:chOff x="0" y="0"/>
            <a:chExt cx="8790178" cy="8790178"/>
          </a:xfrm>
        </p:grpSpPr>
        <p:sp>
          <p:nvSpPr>
            <p:cNvPr name="Freeform 20" id="20"/>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9"/>
              <a:stretch>
                <a:fillRect l="-6309" t="-27432" r="-5119" b="-70663"/>
              </a:stretch>
            </a:blipFill>
          </p:spPr>
        </p:sp>
        <p:sp>
          <p:nvSpPr>
            <p:cNvPr name="Freeform 21" id="21"/>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grpSp>
        <p:nvGrpSpPr>
          <p:cNvPr name="Group 22" id="22"/>
          <p:cNvGrpSpPr>
            <a:grpSpLocks noChangeAspect="true"/>
          </p:cNvGrpSpPr>
          <p:nvPr/>
        </p:nvGrpSpPr>
        <p:grpSpPr>
          <a:xfrm rot="0">
            <a:off x="10051223" y="2998606"/>
            <a:ext cx="3261144" cy="3261144"/>
            <a:chOff x="0" y="0"/>
            <a:chExt cx="8790178" cy="8790178"/>
          </a:xfrm>
        </p:grpSpPr>
        <p:sp>
          <p:nvSpPr>
            <p:cNvPr name="Freeform 23" id="23"/>
            <p:cNvSpPr/>
            <p:nvPr/>
          </p:nvSpPr>
          <p:spPr>
            <a:xfrm flipH="false" flipV="false" rot="0">
              <a:off x="149225" y="149225"/>
              <a:ext cx="8491728" cy="8491728"/>
            </a:xfrm>
            <a:custGeom>
              <a:avLst/>
              <a:gdLst/>
              <a:ahLst/>
              <a:cxnLst/>
              <a:rect r="r" b="b" t="t" l="l"/>
              <a:pathLst>
                <a:path h="8491728" w="8491728">
                  <a:moveTo>
                    <a:pt x="0" y="0"/>
                  </a:moveTo>
                  <a:lnTo>
                    <a:pt x="8491728" y="0"/>
                  </a:lnTo>
                  <a:lnTo>
                    <a:pt x="8491728" y="8491728"/>
                  </a:lnTo>
                  <a:lnTo>
                    <a:pt x="0" y="8491728"/>
                  </a:lnTo>
                  <a:close/>
                </a:path>
              </a:pathLst>
            </a:custGeom>
            <a:blipFill>
              <a:blip r:embed="rId10"/>
              <a:stretch>
                <a:fillRect l="-96" t="0" r="-96" b="0"/>
              </a:stretch>
            </a:blipFill>
          </p:spPr>
        </p:sp>
        <p:sp>
          <p:nvSpPr>
            <p:cNvPr name="Freeform 24" id="24"/>
            <p:cNvSpPr/>
            <p:nvPr/>
          </p:nvSpPr>
          <p:spPr>
            <a:xfrm flipH="false" flipV="false" rot="0">
              <a:off x="0" y="0"/>
              <a:ext cx="8790178" cy="8790178"/>
            </a:xfrm>
            <a:custGeom>
              <a:avLst/>
              <a:gdLst/>
              <a:ahLst/>
              <a:cxnLst/>
              <a:rect r="r" b="b" t="t" l="l"/>
              <a:pathLst>
                <a:path h="8790178" w="8790178">
                  <a:moveTo>
                    <a:pt x="8790178" y="8790178"/>
                  </a:moveTo>
                  <a:lnTo>
                    <a:pt x="0" y="8790178"/>
                  </a:lnTo>
                  <a:lnTo>
                    <a:pt x="0" y="0"/>
                  </a:lnTo>
                  <a:lnTo>
                    <a:pt x="8790178" y="0"/>
                  </a:lnTo>
                  <a:lnTo>
                    <a:pt x="8790178" y="8790178"/>
                  </a:lnTo>
                  <a:close/>
                  <a:moveTo>
                    <a:pt x="19050" y="8771128"/>
                  </a:moveTo>
                  <a:lnTo>
                    <a:pt x="8771128" y="8771128"/>
                  </a:lnTo>
                  <a:lnTo>
                    <a:pt x="8771128" y="19050"/>
                  </a:lnTo>
                  <a:lnTo>
                    <a:pt x="19050" y="19050"/>
                  </a:lnTo>
                  <a:lnTo>
                    <a:pt x="19050" y="8771128"/>
                  </a:lnTo>
                  <a:close/>
                </a:path>
              </a:pathLst>
            </a:custGeom>
            <a:solidFill>
              <a:srgbClr val="000000"/>
            </a:solidFill>
          </p:spPr>
        </p:sp>
      </p:grpSp>
      <p:sp>
        <p:nvSpPr>
          <p:cNvPr name="TextBox 25" id="25"/>
          <p:cNvSpPr txBox="true"/>
          <p:nvPr/>
        </p:nvSpPr>
        <p:spPr>
          <a:xfrm rot="0">
            <a:off x="5542303" y="1123950"/>
            <a:ext cx="7203393" cy="785704"/>
          </a:xfrm>
          <a:prstGeom prst="rect">
            <a:avLst/>
          </a:prstGeom>
        </p:spPr>
        <p:txBody>
          <a:bodyPr anchor="t" rtlCol="false" tIns="0" lIns="0" bIns="0" rIns="0">
            <a:spAutoFit/>
          </a:bodyPr>
          <a:lstStyle/>
          <a:p>
            <a:pPr algn="ctr">
              <a:lnSpc>
                <a:spcPts val="5808"/>
              </a:lnSpc>
            </a:pPr>
            <a:r>
              <a:rPr lang="en-US" sz="5808" spc="-458">
                <a:solidFill>
                  <a:srgbClr val="000000"/>
                </a:solidFill>
                <a:latin typeface="Archivo Black"/>
                <a:ea typeface="Archivo Black"/>
                <a:cs typeface="Archivo Black"/>
                <a:sym typeface="Archivo Black"/>
              </a:rPr>
              <a:t>Our team</a:t>
            </a:r>
          </a:p>
        </p:txBody>
      </p:sp>
      <p:sp>
        <p:nvSpPr>
          <p:cNvPr name="TextBox 26" id="26"/>
          <p:cNvSpPr txBox="true"/>
          <p:nvPr/>
        </p:nvSpPr>
        <p:spPr>
          <a:xfrm rot="0">
            <a:off x="360624" y="3818444"/>
            <a:ext cx="393170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İPEK BAŞ</a:t>
            </a:r>
          </a:p>
        </p:txBody>
      </p:sp>
      <p:sp>
        <p:nvSpPr>
          <p:cNvPr name="TextBox 27" id="27"/>
          <p:cNvSpPr txBox="true"/>
          <p:nvPr/>
        </p:nvSpPr>
        <p:spPr>
          <a:xfrm rot="0">
            <a:off x="238837" y="8927300"/>
            <a:ext cx="4175279"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YAREN AKDOĞAN</a:t>
            </a:r>
          </a:p>
        </p:txBody>
      </p:sp>
      <p:sp>
        <p:nvSpPr>
          <p:cNvPr name="TextBox 28" id="28"/>
          <p:cNvSpPr txBox="true"/>
          <p:nvPr/>
        </p:nvSpPr>
        <p:spPr>
          <a:xfrm rot="0">
            <a:off x="695904" y="4253566"/>
            <a:ext cx="3261144" cy="650326"/>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Mobile Application Developer</a:t>
            </a:r>
          </a:p>
        </p:txBody>
      </p:sp>
      <p:sp>
        <p:nvSpPr>
          <p:cNvPr name="TextBox 29" id="29"/>
          <p:cNvSpPr txBox="true"/>
          <p:nvPr/>
        </p:nvSpPr>
        <p:spPr>
          <a:xfrm rot="0">
            <a:off x="13998156" y="4122056"/>
            <a:ext cx="3261144" cy="650326"/>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Mobile Application Developer</a:t>
            </a:r>
          </a:p>
        </p:txBody>
      </p:sp>
      <p:sp>
        <p:nvSpPr>
          <p:cNvPr name="TextBox 30" id="30"/>
          <p:cNvSpPr txBox="true"/>
          <p:nvPr/>
        </p:nvSpPr>
        <p:spPr>
          <a:xfrm rot="0">
            <a:off x="13540956" y="8849892"/>
            <a:ext cx="411458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SEZİN KÖROĞLU</a:t>
            </a:r>
          </a:p>
        </p:txBody>
      </p:sp>
      <p:sp>
        <p:nvSpPr>
          <p:cNvPr name="TextBox 31" id="31"/>
          <p:cNvSpPr txBox="true"/>
          <p:nvPr/>
        </p:nvSpPr>
        <p:spPr>
          <a:xfrm rot="0">
            <a:off x="793177" y="9363075"/>
            <a:ext cx="3499151" cy="650326"/>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App Backend Development &amp; API Integration</a:t>
            </a:r>
          </a:p>
        </p:txBody>
      </p:sp>
      <p:sp>
        <p:nvSpPr>
          <p:cNvPr name="TextBox 32" id="32"/>
          <p:cNvSpPr txBox="true"/>
          <p:nvPr/>
        </p:nvSpPr>
        <p:spPr>
          <a:xfrm rot="0">
            <a:off x="13601916" y="3667232"/>
            <a:ext cx="405362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İBRAHİM TAŞPINAR</a:t>
            </a:r>
          </a:p>
        </p:txBody>
      </p:sp>
      <p:sp>
        <p:nvSpPr>
          <p:cNvPr name="TextBox 33" id="33"/>
          <p:cNvSpPr txBox="true"/>
          <p:nvPr/>
        </p:nvSpPr>
        <p:spPr>
          <a:xfrm rot="0">
            <a:off x="13841214" y="9361867"/>
            <a:ext cx="3575028" cy="650326"/>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App Backend Development &amp; API Integration</a:t>
            </a:r>
          </a:p>
        </p:txBody>
      </p:sp>
      <p:sp>
        <p:nvSpPr>
          <p:cNvPr name="TextBox 34" id="34"/>
          <p:cNvSpPr txBox="true"/>
          <p:nvPr/>
        </p:nvSpPr>
        <p:spPr>
          <a:xfrm rot="0">
            <a:off x="4749823" y="6419408"/>
            <a:ext cx="405362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SALİH BARKIN AKKAYA</a:t>
            </a:r>
          </a:p>
        </p:txBody>
      </p:sp>
      <p:sp>
        <p:nvSpPr>
          <p:cNvPr name="TextBox 35" id="35"/>
          <p:cNvSpPr txBox="true"/>
          <p:nvPr/>
        </p:nvSpPr>
        <p:spPr>
          <a:xfrm rot="0">
            <a:off x="9654983" y="6419408"/>
            <a:ext cx="4053624" cy="331000"/>
          </a:xfrm>
          <a:prstGeom prst="rect">
            <a:avLst/>
          </a:prstGeom>
        </p:spPr>
        <p:txBody>
          <a:bodyPr anchor="t" rtlCol="false" tIns="0" lIns="0" bIns="0" rIns="0">
            <a:spAutoFit/>
          </a:bodyPr>
          <a:lstStyle/>
          <a:p>
            <a:pPr algn="ctr">
              <a:lnSpc>
                <a:spcPts val="2794"/>
              </a:lnSpc>
            </a:pPr>
            <a:r>
              <a:rPr lang="en-US" b="true" sz="1996">
                <a:solidFill>
                  <a:srgbClr val="000000"/>
                </a:solidFill>
                <a:latin typeface="Garet Bold"/>
                <a:ea typeface="Garet Bold"/>
                <a:cs typeface="Garet Bold"/>
                <a:sym typeface="Garet Bold"/>
              </a:rPr>
              <a:t>CEVDET ALP ÖZGÜN</a:t>
            </a:r>
          </a:p>
        </p:txBody>
      </p:sp>
      <p:sp>
        <p:nvSpPr>
          <p:cNvPr name="TextBox 36" id="36"/>
          <p:cNvSpPr txBox="true"/>
          <p:nvPr/>
        </p:nvSpPr>
        <p:spPr>
          <a:xfrm rot="0">
            <a:off x="5146063" y="6865197"/>
            <a:ext cx="3261144" cy="650326"/>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Deep Learning &amp; Model Development Team</a:t>
            </a:r>
          </a:p>
        </p:txBody>
      </p:sp>
      <p:sp>
        <p:nvSpPr>
          <p:cNvPr name="TextBox 37" id="37"/>
          <p:cNvSpPr txBox="true"/>
          <p:nvPr/>
        </p:nvSpPr>
        <p:spPr>
          <a:xfrm rot="0">
            <a:off x="10051223" y="6865197"/>
            <a:ext cx="3261144" cy="650326"/>
          </a:xfrm>
          <a:prstGeom prst="rect">
            <a:avLst/>
          </a:prstGeom>
        </p:spPr>
        <p:txBody>
          <a:bodyPr anchor="t" rtlCol="false" tIns="0" lIns="0" bIns="0" rIns="0">
            <a:spAutoFit/>
          </a:bodyPr>
          <a:lstStyle/>
          <a:p>
            <a:pPr algn="ctr">
              <a:lnSpc>
                <a:spcPts val="2661"/>
              </a:lnSpc>
            </a:pPr>
            <a:r>
              <a:rPr lang="en-US" sz="1901">
                <a:solidFill>
                  <a:srgbClr val="000000"/>
                </a:solidFill>
                <a:latin typeface="Garet"/>
                <a:ea typeface="Garet"/>
                <a:cs typeface="Garet"/>
                <a:sym typeface="Garet"/>
              </a:rPr>
              <a:t>Deep Learning &amp; Model Development Team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grpSp>
        <p:nvGrpSpPr>
          <p:cNvPr name="Group 3" id="3"/>
          <p:cNvGrpSpPr/>
          <p:nvPr/>
        </p:nvGrpSpPr>
        <p:grpSpPr>
          <a:xfrm rot="0">
            <a:off x="5723152" y="0"/>
            <a:ext cx="7021414" cy="10287000"/>
            <a:chOff x="0" y="0"/>
            <a:chExt cx="9361885" cy="13716000"/>
          </a:xfrm>
        </p:grpSpPr>
        <p:pic>
          <p:nvPicPr>
            <p:cNvPr name="Picture 4" id="4"/>
            <p:cNvPicPr>
              <a:picLocks noChangeAspect="true"/>
            </p:cNvPicPr>
            <p:nvPr/>
          </p:nvPicPr>
          <p:blipFill>
            <a:blip r:embed="rId3"/>
            <a:srcRect l="15872" t="0" r="15872" b="0"/>
            <a:stretch>
              <a:fillRect/>
            </a:stretch>
          </p:blipFill>
          <p:spPr>
            <a:xfrm flipH="false" flipV="false">
              <a:off x="0" y="0"/>
              <a:ext cx="9361885" cy="13716000"/>
            </a:xfrm>
            <a:prstGeom prst="rect">
              <a:avLst/>
            </a:prstGeom>
          </p:spPr>
        </p:pic>
      </p:grpSp>
      <p:sp>
        <p:nvSpPr>
          <p:cNvPr name="TextBox 5" id="5"/>
          <p:cNvSpPr txBox="true"/>
          <p:nvPr/>
        </p:nvSpPr>
        <p:spPr>
          <a:xfrm rot="0">
            <a:off x="13430366" y="4880657"/>
            <a:ext cx="3828934" cy="3863975"/>
          </a:xfrm>
          <a:prstGeom prst="rect">
            <a:avLst/>
          </a:prstGeom>
        </p:spPr>
        <p:txBody>
          <a:bodyPr anchor="t" rtlCol="false" tIns="0" lIns="0" bIns="0" rIns="0">
            <a:spAutoFit/>
          </a:bodyPr>
          <a:lstStyle/>
          <a:p>
            <a:pPr algn="r">
              <a:lnSpc>
                <a:spcPts val="2800"/>
              </a:lnSpc>
            </a:pPr>
            <a:r>
              <a:rPr lang="en-US" sz="2000">
                <a:solidFill>
                  <a:srgbClr val="000000"/>
                </a:solidFill>
                <a:latin typeface="Garet"/>
                <a:ea typeface="Garet"/>
                <a:cs typeface="Garet"/>
                <a:sym typeface="Garet"/>
              </a:rPr>
              <a:t>It is a deep learning-based classification and explainability system that simultaneously predicts multiple diseases from chest X-ray images. Model outputs are visualized using Grad-CAM to explain decision regions to the user, and results are presented via a mobile interface.</a:t>
            </a:r>
          </a:p>
        </p:txBody>
      </p:sp>
      <p:sp>
        <p:nvSpPr>
          <p:cNvPr name="TextBox 6" id="6"/>
          <p:cNvSpPr txBox="true"/>
          <p:nvPr/>
        </p:nvSpPr>
        <p:spPr>
          <a:xfrm rot="0">
            <a:off x="1051851" y="3672569"/>
            <a:ext cx="4671301" cy="31591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Solution approach:</a:t>
            </a:r>
          </a:p>
          <a:p>
            <a:pPr algn="l" marL="431801" indent="-215900" lvl="1">
              <a:lnSpc>
                <a:spcPts val="2800"/>
              </a:lnSpc>
              <a:buFont typeface="Arial"/>
              <a:buChar char="•"/>
            </a:pPr>
            <a:r>
              <a:rPr lang="en-US" sz="2000">
                <a:solidFill>
                  <a:srgbClr val="000000"/>
                </a:solidFill>
                <a:latin typeface="Garet"/>
                <a:ea typeface="Garet"/>
                <a:cs typeface="Garet"/>
                <a:sym typeface="Garet"/>
              </a:rPr>
              <a:t>NIH ChestX-ray14 dataset</a:t>
            </a:r>
          </a:p>
          <a:p>
            <a:pPr algn="l" marL="431801" indent="-215900" lvl="1">
              <a:lnSpc>
                <a:spcPts val="2800"/>
              </a:lnSpc>
              <a:buFont typeface="Arial"/>
              <a:buChar char="•"/>
            </a:pPr>
            <a:r>
              <a:rPr lang="en-US" sz="2000">
                <a:solidFill>
                  <a:srgbClr val="000000"/>
                </a:solidFill>
                <a:latin typeface="Garet"/>
                <a:ea typeface="Garet"/>
                <a:cs typeface="Garet"/>
                <a:sym typeface="Garet"/>
              </a:rPr>
              <a:t>CNN-based multi-label classification</a:t>
            </a:r>
          </a:p>
          <a:p>
            <a:pPr algn="l" marL="431801" indent="-215900" lvl="1">
              <a:lnSpc>
                <a:spcPts val="2800"/>
              </a:lnSpc>
              <a:buFont typeface="Arial"/>
              <a:buChar char="•"/>
            </a:pPr>
            <a:r>
              <a:rPr lang="en-US" sz="2000">
                <a:solidFill>
                  <a:srgbClr val="000000"/>
                </a:solidFill>
                <a:latin typeface="Garet"/>
                <a:ea typeface="Garet"/>
                <a:cs typeface="Garet"/>
                <a:sym typeface="Garet"/>
              </a:rPr>
              <a:t>Sigmoid output + BCE-based loss</a:t>
            </a:r>
          </a:p>
          <a:p>
            <a:pPr algn="l" marL="431801" indent="-215900" lvl="1">
              <a:lnSpc>
                <a:spcPts val="2800"/>
              </a:lnSpc>
              <a:buFont typeface="Arial"/>
              <a:buChar char="•"/>
            </a:pPr>
            <a:r>
              <a:rPr lang="en-US" sz="2000">
                <a:solidFill>
                  <a:srgbClr val="000000"/>
                </a:solidFill>
                <a:latin typeface="Garet"/>
                <a:ea typeface="Garet"/>
                <a:cs typeface="Garet"/>
                <a:sym typeface="Garet"/>
              </a:rPr>
              <a:t>Explainability with Grad-CAM++</a:t>
            </a:r>
          </a:p>
          <a:p>
            <a:pPr algn="l" marL="431800" indent="-215900" lvl="1">
              <a:lnSpc>
                <a:spcPts val="2800"/>
              </a:lnSpc>
              <a:buFont typeface="Arial"/>
              <a:buChar char="•"/>
            </a:pPr>
            <a:r>
              <a:rPr lang="en-US" sz="2000">
                <a:solidFill>
                  <a:srgbClr val="000000"/>
                </a:solidFill>
                <a:latin typeface="Garet"/>
                <a:ea typeface="Garet"/>
                <a:cs typeface="Garet"/>
                <a:sym typeface="Garet"/>
              </a:rPr>
              <a:t>Backend API + Flutter client integration</a:t>
            </a:r>
          </a:p>
        </p:txBody>
      </p:sp>
      <p:sp>
        <p:nvSpPr>
          <p:cNvPr name="TextBox 7" id="7"/>
          <p:cNvSpPr txBox="true"/>
          <p:nvPr/>
        </p:nvSpPr>
        <p:spPr>
          <a:xfrm rot="0">
            <a:off x="358063" y="4931457"/>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02</a:t>
            </a:r>
          </a:p>
        </p:txBody>
      </p:sp>
      <p:sp>
        <p:nvSpPr>
          <p:cNvPr name="TextBox 8" id="8"/>
          <p:cNvSpPr txBox="true"/>
          <p:nvPr/>
        </p:nvSpPr>
        <p:spPr>
          <a:xfrm rot="0">
            <a:off x="1028700" y="235167"/>
            <a:ext cx="4265465" cy="3159125"/>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What does the system do?</a:t>
            </a:r>
          </a:p>
          <a:p>
            <a:pPr algn="l" marL="431801" indent="-215900" lvl="1">
              <a:lnSpc>
                <a:spcPts val="2800"/>
              </a:lnSpc>
              <a:buFont typeface="Arial"/>
              <a:buChar char="•"/>
            </a:pPr>
            <a:r>
              <a:rPr lang="en-US" sz="2000">
                <a:solidFill>
                  <a:srgbClr val="000000"/>
                </a:solidFill>
                <a:latin typeface="Garet"/>
                <a:ea typeface="Garet"/>
                <a:cs typeface="Garet"/>
                <a:sym typeface="Garet"/>
              </a:rPr>
              <a:t>It takes chest X-rays</a:t>
            </a:r>
          </a:p>
          <a:p>
            <a:pPr algn="l" marL="431801" indent="-215900" lvl="1">
              <a:lnSpc>
                <a:spcPts val="2800"/>
              </a:lnSpc>
              <a:buFont typeface="Arial"/>
              <a:buChar char="•"/>
            </a:pPr>
            <a:r>
              <a:rPr lang="en-US" sz="2000">
                <a:solidFill>
                  <a:srgbClr val="000000"/>
                </a:solidFill>
                <a:latin typeface="Garet"/>
                <a:ea typeface="Garet"/>
                <a:cs typeface="Garet"/>
                <a:sym typeface="Garet"/>
              </a:rPr>
              <a:t>It generates probability values for multiple diseases</a:t>
            </a:r>
          </a:p>
          <a:p>
            <a:pPr algn="l" marL="431801" indent="-215900" lvl="1">
              <a:lnSpc>
                <a:spcPts val="2800"/>
              </a:lnSpc>
              <a:buFont typeface="Arial"/>
              <a:buChar char="•"/>
            </a:pPr>
            <a:r>
              <a:rPr lang="en-US" sz="2000">
                <a:solidFill>
                  <a:srgbClr val="000000"/>
                </a:solidFill>
                <a:latin typeface="Garet"/>
                <a:ea typeface="Garet"/>
                <a:cs typeface="Garet"/>
                <a:sym typeface="Garet"/>
              </a:rPr>
              <a:t>It displays relevant regions as heat maps using Grad-CAM</a:t>
            </a:r>
          </a:p>
          <a:p>
            <a:pPr algn="l" marL="431800" indent="-215900" lvl="1">
              <a:lnSpc>
                <a:spcPts val="2800"/>
              </a:lnSpc>
              <a:buFont typeface="Arial"/>
              <a:buChar char="•"/>
            </a:pPr>
            <a:r>
              <a:rPr lang="en-US" sz="2000">
                <a:solidFill>
                  <a:srgbClr val="000000"/>
                </a:solidFill>
                <a:latin typeface="Garet"/>
                <a:ea typeface="Garet"/>
                <a:cs typeface="Garet"/>
                <a:sym typeface="Garet"/>
              </a:rPr>
              <a:t>It presents the results to the user on the Flutter interface</a:t>
            </a:r>
          </a:p>
        </p:txBody>
      </p:sp>
      <p:sp>
        <p:nvSpPr>
          <p:cNvPr name="TextBox 9" id="9"/>
          <p:cNvSpPr txBox="true"/>
          <p:nvPr/>
        </p:nvSpPr>
        <p:spPr>
          <a:xfrm rot="0">
            <a:off x="358063" y="1494054"/>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01</a:t>
            </a:r>
          </a:p>
        </p:txBody>
      </p:sp>
      <p:sp>
        <p:nvSpPr>
          <p:cNvPr name="TextBox 10" id="10"/>
          <p:cNvSpPr txBox="true"/>
          <p:nvPr/>
        </p:nvSpPr>
        <p:spPr>
          <a:xfrm rot="0">
            <a:off x="8284748" y="3983307"/>
            <a:ext cx="8974552" cy="785704"/>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WHAT IS OUR PROJECT?</a:t>
            </a:r>
          </a:p>
        </p:txBody>
      </p:sp>
      <p:sp>
        <p:nvSpPr>
          <p:cNvPr name="TextBox 11" id="11"/>
          <p:cNvSpPr txBox="true"/>
          <p:nvPr/>
        </p:nvSpPr>
        <p:spPr>
          <a:xfrm rot="0">
            <a:off x="358063" y="7898421"/>
            <a:ext cx="467670" cy="339725"/>
          </a:xfrm>
          <a:prstGeom prst="rect">
            <a:avLst/>
          </a:prstGeom>
        </p:spPr>
        <p:txBody>
          <a:bodyPr anchor="t" rtlCol="false" tIns="0" lIns="0" bIns="0" rIns="0">
            <a:spAutoFit/>
          </a:bodyPr>
          <a:lstStyle/>
          <a:p>
            <a:pPr algn="r">
              <a:lnSpc>
                <a:spcPts val="2800"/>
              </a:lnSpc>
            </a:pPr>
            <a:r>
              <a:rPr lang="en-US" b="true" sz="2000">
                <a:solidFill>
                  <a:srgbClr val="000000"/>
                </a:solidFill>
                <a:latin typeface="Garet Bold"/>
                <a:ea typeface="Garet Bold"/>
                <a:cs typeface="Garet Bold"/>
                <a:sym typeface="Garet Bold"/>
              </a:rPr>
              <a:t>03</a:t>
            </a:r>
          </a:p>
        </p:txBody>
      </p:sp>
      <p:sp>
        <p:nvSpPr>
          <p:cNvPr name="TextBox 12" id="12"/>
          <p:cNvSpPr txBox="true"/>
          <p:nvPr/>
        </p:nvSpPr>
        <p:spPr>
          <a:xfrm rot="0">
            <a:off x="1028700" y="7107919"/>
            <a:ext cx="4265465" cy="2806700"/>
          </a:xfrm>
          <a:prstGeom prst="rect">
            <a:avLst/>
          </a:prstGeom>
        </p:spPr>
        <p:txBody>
          <a:bodyPr anchor="t" rtlCol="false" tIns="0" lIns="0" bIns="0" rIns="0">
            <a:spAutoFit/>
          </a:bodyPr>
          <a:lstStyle/>
          <a:p>
            <a:pPr algn="l">
              <a:lnSpc>
                <a:spcPts val="2800"/>
              </a:lnSpc>
            </a:pPr>
            <a:r>
              <a:rPr lang="en-US" sz="2000" b="true">
                <a:solidFill>
                  <a:srgbClr val="000000"/>
                </a:solidFill>
                <a:latin typeface="Garet Bold"/>
                <a:ea typeface="Garet Bold"/>
                <a:cs typeface="Garet Bold"/>
                <a:sym typeface="Garet Bold"/>
              </a:rPr>
              <a:t>Project scope:</a:t>
            </a:r>
          </a:p>
          <a:p>
            <a:pPr algn="l" marL="431801" indent="-215900" lvl="1">
              <a:lnSpc>
                <a:spcPts val="2800"/>
              </a:lnSpc>
              <a:buFont typeface="Arial"/>
              <a:buChar char="•"/>
            </a:pPr>
            <a:r>
              <a:rPr lang="en-US" sz="2000">
                <a:solidFill>
                  <a:srgbClr val="000000"/>
                </a:solidFill>
                <a:latin typeface="Garet"/>
                <a:ea typeface="Garet"/>
                <a:cs typeface="Garet"/>
                <a:sym typeface="Garet"/>
              </a:rPr>
              <a:t>Model training and evaluation</a:t>
            </a:r>
          </a:p>
          <a:p>
            <a:pPr algn="l" marL="431801" indent="-215900" lvl="1">
              <a:lnSpc>
                <a:spcPts val="2800"/>
              </a:lnSpc>
              <a:buFont typeface="Arial"/>
              <a:buChar char="•"/>
            </a:pPr>
            <a:r>
              <a:rPr lang="en-US" sz="2000">
                <a:solidFill>
                  <a:srgbClr val="000000"/>
                </a:solidFill>
                <a:latin typeface="Garet"/>
                <a:ea typeface="Garet"/>
                <a:cs typeface="Garet"/>
                <a:sym typeface="Garet"/>
              </a:rPr>
              <a:t>Explainability visualizations</a:t>
            </a:r>
          </a:p>
          <a:p>
            <a:pPr algn="l" marL="431801" indent="-215900" lvl="1">
              <a:lnSpc>
                <a:spcPts val="2800"/>
              </a:lnSpc>
              <a:buFont typeface="Arial"/>
              <a:buChar char="•"/>
            </a:pPr>
            <a:r>
              <a:rPr lang="en-US" sz="2000">
                <a:solidFill>
                  <a:srgbClr val="000000"/>
                </a:solidFill>
                <a:latin typeface="Garet"/>
                <a:ea typeface="Garet"/>
                <a:cs typeface="Garet"/>
                <a:sym typeface="Garet"/>
              </a:rPr>
              <a:t>Simple and accessible user interface</a:t>
            </a:r>
          </a:p>
          <a:p>
            <a:pPr algn="l" marL="431800" indent="-215900" lvl="1">
              <a:lnSpc>
                <a:spcPts val="2800"/>
              </a:lnSpc>
              <a:buFont typeface="Arial"/>
              <a:buChar char="•"/>
            </a:pPr>
            <a:r>
              <a:rPr lang="en-US" sz="2000">
                <a:solidFill>
                  <a:srgbClr val="000000"/>
                </a:solidFill>
                <a:latin typeface="Garet"/>
                <a:ea typeface="Garet"/>
                <a:cs typeface="Garet"/>
                <a:sym typeface="Garet"/>
              </a:rPr>
              <a:t>D</a:t>
            </a:r>
            <a:r>
              <a:rPr lang="en-US" sz="2000">
                <a:solidFill>
                  <a:srgbClr val="000000"/>
                </a:solidFill>
                <a:latin typeface="Garet"/>
                <a:ea typeface="Garet"/>
                <a:cs typeface="Garet"/>
                <a:sym typeface="Garet"/>
              </a:rPr>
              <a:t>eployed mobile application via React Native (Expo)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10800000">
            <a:off x="11159450" y="-140976"/>
            <a:ext cx="2611028" cy="4114800"/>
          </a:xfrm>
          <a:custGeom>
            <a:avLst/>
            <a:gdLst/>
            <a:ahLst/>
            <a:cxnLst/>
            <a:rect r="r" b="b" t="t" l="l"/>
            <a:pathLst>
              <a:path h="4114800" w="2611028">
                <a:moveTo>
                  <a:pt x="0" y="0"/>
                </a:moveTo>
                <a:lnTo>
                  <a:pt x="2611028" y="0"/>
                </a:lnTo>
                <a:lnTo>
                  <a:pt x="261102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028700" y="1557564"/>
            <a:ext cx="7279037" cy="1519129"/>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Project Motivation &amp; Purpose</a:t>
            </a:r>
          </a:p>
        </p:txBody>
      </p:sp>
      <p:sp>
        <p:nvSpPr>
          <p:cNvPr name="TextBox 7" id="7"/>
          <p:cNvSpPr txBox="true"/>
          <p:nvPr/>
        </p:nvSpPr>
        <p:spPr>
          <a:xfrm rot="0">
            <a:off x="1028700" y="3190994"/>
            <a:ext cx="8823356" cy="1851660"/>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This project aims to support the automated detection of multiple thoracic pathologies from chest X-ray images and to enhance the clinical reliability of deep learning–based systems by incorporating Grad-CAM–driven explainability into the decision process.</a:t>
            </a:r>
          </a:p>
        </p:txBody>
      </p:sp>
      <p:sp>
        <p:nvSpPr>
          <p:cNvPr name="TextBox 8" id="8"/>
          <p:cNvSpPr txBox="true"/>
          <p:nvPr/>
        </p:nvSpPr>
        <p:spPr>
          <a:xfrm rot="0">
            <a:off x="1028700" y="6475512"/>
            <a:ext cx="3806998" cy="485775"/>
          </a:xfrm>
          <a:prstGeom prst="rect">
            <a:avLst/>
          </a:prstGeom>
        </p:spPr>
        <p:txBody>
          <a:bodyPr anchor="t" rtlCol="false" tIns="0" lIns="0" bIns="0" rIns="0">
            <a:spAutoFit/>
          </a:bodyPr>
          <a:lstStyle/>
          <a:p>
            <a:pPr algn="ctr" marL="0" indent="0" lvl="0">
              <a:lnSpc>
                <a:spcPts val="3840"/>
              </a:lnSpc>
              <a:spcBef>
                <a:spcPct val="0"/>
              </a:spcBef>
            </a:pPr>
            <a:r>
              <a:rPr lang="en-US" b="true" sz="3200">
                <a:solidFill>
                  <a:srgbClr val="000000"/>
                </a:solidFill>
                <a:latin typeface="Garet Bold"/>
                <a:ea typeface="Garet Bold"/>
                <a:cs typeface="Garet Bold"/>
                <a:sym typeface="Garet Bold"/>
              </a:rPr>
              <a:t># 1</a:t>
            </a:r>
          </a:p>
        </p:txBody>
      </p:sp>
      <p:sp>
        <p:nvSpPr>
          <p:cNvPr name="TextBox 9" id="9"/>
          <p:cNvSpPr txBox="true"/>
          <p:nvPr/>
        </p:nvSpPr>
        <p:spPr>
          <a:xfrm rot="0">
            <a:off x="7240501" y="6475512"/>
            <a:ext cx="3806998" cy="485775"/>
          </a:xfrm>
          <a:prstGeom prst="rect">
            <a:avLst/>
          </a:prstGeom>
        </p:spPr>
        <p:txBody>
          <a:bodyPr anchor="t" rtlCol="false" tIns="0" lIns="0" bIns="0" rIns="0">
            <a:spAutoFit/>
          </a:bodyPr>
          <a:lstStyle/>
          <a:p>
            <a:pPr algn="ctr" marL="0" indent="0" lvl="0">
              <a:lnSpc>
                <a:spcPts val="3840"/>
              </a:lnSpc>
              <a:spcBef>
                <a:spcPct val="0"/>
              </a:spcBef>
            </a:pPr>
            <a:r>
              <a:rPr lang="en-US" b="true" sz="3200">
                <a:solidFill>
                  <a:srgbClr val="000000"/>
                </a:solidFill>
                <a:latin typeface="Garet Bold"/>
                <a:ea typeface="Garet Bold"/>
                <a:cs typeface="Garet Bold"/>
                <a:sym typeface="Garet Bold"/>
              </a:rPr>
              <a:t>#2 </a:t>
            </a:r>
          </a:p>
        </p:txBody>
      </p:sp>
      <p:sp>
        <p:nvSpPr>
          <p:cNvPr name="TextBox 10" id="10"/>
          <p:cNvSpPr txBox="true"/>
          <p:nvPr/>
        </p:nvSpPr>
        <p:spPr>
          <a:xfrm rot="0">
            <a:off x="424020" y="7078855"/>
            <a:ext cx="5016359" cy="1480185"/>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000000"/>
                </a:solidFill>
                <a:latin typeface="Garet"/>
                <a:ea typeface="Garet"/>
                <a:cs typeface="Garet"/>
                <a:sym typeface="Garet"/>
              </a:rPr>
              <a:t>It was deve</a:t>
            </a:r>
            <a:r>
              <a:rPr lang="en-US" sz="2099" u="none">
                <a:solidFill>
                  <a:srgbClr val="000000"/>
                </a:solidFill>
                <a:latin typeface="Garet"/>
                <a:ea typeface="Garet"/>
                <a:cs typeface="Garet"/>
                <a:sym typeface="Garet"/>
              </a:rPr>
              <a:t>loped to support early diagnosis and make the classification of chest X-ray / thoracic diseases more reliable.</a:t>
            </a:r>
          </a:p>
        </p:txBody>
      </p:sp>
      <p:sp>
        <p:nvSpPr>
          <p:cNvPr name="TextBox 11" id="11"/>
          <p:cNvSpPr txBox="true"/>
          <p:nvPr/>
        </p:nvSpPr>
        <p:spPr>
          <a:xfrm rot="0">
            <a:off x="6635821" y="7078855"/>
            <a:ext cx="5016359" cy="1108710"/>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000000"/>
                </a:solidFill>
                <a:latin typeface="Garet"/>
                <a:ea typeface="Garet"/>
                <a:cs typeface="Garet"/>
                <a:sym typeface="Garet"/>
              </a:rPr>
              <a:t>It offers exp</a:t>
            </a:r>
            <a:r>
              <a:rPr lang="en-US" sz="2099" u="none">
                <a:solidFill>
                  <a:srgbClr val="000000"/>
                </a:solidFill>
                <a:latin typeface="Garet"/>
                <a:ea typeface="Garet"/>
                <a:cs typeface="Garet"/>
                <a:sym typeface="Garet"/>
              </a:rPr>
              <a:t>lainability based on Grad-CAM++ along with accuracy and user accessibility.</a:t>
            </a:r>
          </a:p>
        </p:txBody>
      </p:sp>
      <p:sp>
        <p:nvSpPr>
          <p:cNvPr name="TextBox 12" id="12"/>
          <p:cNvSpPr txBox="true"/>
          <p:nvPr/>
        </p:nvSpPr>
        <p:spPr>
          <a:xfrm rot="0">
            <a:off x="13452302" y="6475512"/>
            <a:ext cx="3806998" cy="485775"/>
          </a:xfrm>
          <a:prstGeom prst="rect">
            <a:avLst/>
          </a:prstGeom>
        </p:spPr>
        <p:txBody>
          <a:bodyPr anchor="t" rtlCol="false" tIns="0" lIns="0" bIns="0" rIns="0">
            <a:spAutoFit/>
          </a:bodyPr>
          <a:lstStyle/>
          <a:p>
            <a:pPr algn="ctr" marL="0" indent="0" lvl="0">
              <a:lnSpc>
                <a:spcPts val="3840"/>
              </a:lnSpc>
              <a:spcBef>
                <a:spcPct val="0"/>
              </a:spcBef>
            </a:pPr>
            <a:r>
              <a:rPr lang="en-US" b="true" sz="3200">
                <a:solidFill>
                  <a:srgbClr val="000000"/>
                </a:solidFill>
                <a:latin typeface="Garet Bold"/>
                <a:ea typeface="Garet Bold"/>
                <a:cs typeface="Garet Bold"/>
                <a:sym typeface="Garet Bold"/>
              </a:rPr>
              <a:t># 3</a:t>
            </a:r>
          </a:p>
        </p:txBody>
      </p:sp>
      <p:sp>
        <p:nvSpPr>
          <p:cNvPr name="TextBox 13" id="13"/>
          <p:cNvSpPr txBox="true"/>
          <p:nvPr/>
        </p:nvSpPr>
        <p:spPr>
          <a:xfrm rot="0">
            <a:off x="12847622" y="7078855"/>
            <a:ext cx="5016359" cy="1480185"/>
          </a:xfrm>
          <a:prstGeom prst="rect">
            <a:avLst/>
          </a:prstGeom>
        </p:spPr>
        <p:txBody>
          <a:bodyPr anchor="t" rtlCol="false" tIns="0" lIns="0" bIns="0" rIns="0">
            <a:spAutoFit/>
          </a:bodyPr>
          <a:lstStyle/>
          <a:p>
            <a:pPr algn="ctr" marL="0" indent="0" lvl="0">
              <a:lnSpc>
                <a:spcPts val="2939"/>
              </a:lnSpc>
              <a:spcBef>
                <a:spcPct val="0"/>
              </a:spcBef>
            </a:pPr>
            <a:r>
              <a:rPr lang="en-US" sz="2099">
                <a:solidFill>
                  <a:srgbClr val="000000"/>
                </a:solidFill>
                <a:latin typeface="Garet"/>
                <a:ea typeface="Garet"/>
                <a:cs typeface="Garet"/>
                <a:sym typeface="Garet"/>
              </a:rPr>
              <a:t>Supp</a:t>
            </a:r>
            <a:r>
              <a:rPr lang="en-US" sz="2099" u="none">
                <a:solidFill>
                  <a:srgbClr val="000000"/>
                </a:solidFill>
                <a:latin typeface="Garet"/>
                <a:ea typeface="Garet"/>
                <a:cs typeface="Garet"/>
                <a:sym typeface="Garet"/>
              </a:rPr>
              <a:t>orts clinical and academic use by providing explainable decision support and a user-friendly prototype.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028700" y="1028700"/>
            <a:ext cx="3802877" cy="1486579"/>
          </a:xfrm>
          <a:custGeom>
            <a:avLst/>
            <a:gdLst/>
            <a:ahLst/>
            <a:cxnLst/>
            <a:rect r="r" b="b" t="t" l="l"/>
            <a:pathLst>
              <a:path h="1486579" w="3802877">
                <a:moveTo>
                  <a:pt x="0" y="0"/>
                </a:moveTo>
                <a:lnTo>
                  <a:pt x="3802877" y="0"/>
                </a:lnTo>
                <a:lnTo>
                  <a:pt x="3802877" y="1486579"/>
                </a:lnTo>
                <a:lnTo>
                  <a:pt x="0" y="14865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8839353" y="2610529"/>
            <a:ext cx="8419947" cy="1526202"/>
          </a:xfrm>
          <a:prstGeom prst="rect">
            <a:avLst/>
          </a:prstGeom>
        </p:spPr>
        <p:txBody>
          <a:bodyPr anchor="t" rtlCol="false" tIns="0" lIns="0" bIns="0" rIns="0">
            <a:spAutoFit/>
          </a:bodyPr>
          <a:lstStyle/>
          <a:p>
            <a:pPr algn="r" marL="0" indent="0" lvl="0">
              <a:lnSpc>
                <a:spcPts val="5808"/>
              </a:lnSpc>
              <a:spcBef>
                <a:spcPct val="0"/>
              </a:spcBef>
            </a:pPr>
            <a:r>
              <a:rPr lang="en-US" sz="5808" spc="-458">
                <a:solidFill>
                  <a:srgbClr val="000000"/>
                </a:solidFill>
                <a:latin typeface="Archivo Black"/>
                <a:ea typeface="Archivo Black"/>
                <a:cs typeface="Archivo Black"/>
                <a:sym typeface="Archivo Black"/>
              </a:rPr>
              <a:t>System Architecture / General Workflow</a:t>
            </a:r>
          </a:p>
        </p:txBody>
      </p:sp>
      <p:sp>
        <p:nvSpPr>
          <p:cNvPr name="TextBox 5" id="5"/>
          <p:cNvSpPr txBox="true"/>
          <p:nvPr/>
        </p:nvSpPr>
        <p:spPr>
          <a:xfrm rot="0">
            <a:off x="9251860" y="4131855"/>
            <a:ext cx="8007440" cy="365760"/>
          </a:xfrm>
          <a:prstGeom prst="rect">
            <a:avLst/>
          </a:prstGeom>
        </p:spPr>
        <p:txBody>
          <a:bodyPr anchor="t" rtlCol="false" tIns="0" lIns="0" bIns="0" rIns="0">
            <a:spAutoFit/>
          </a:bodyPr>
          <a:lstStyle/>
          <a:p>
            <a:pPr algn="r">
              <a:lnSpc>
                <a:spcPts val="2939"/>
              </a:lnSpc>
              <a:spcBef>
                <a:spcPct val="0"/>
              </a:spcBef>
            </a:pPr>
            <a:r>
              <a:rPr lang="en-US" sz="2099">
                <a:solidFill>
                  <a:srgbClr val="000000"/>
                </a:solidFill>
                <a:latin typeface="Garet"/>
                <a:ea typeface="Garet"/>
                <a:cs typeface="Garet"/>
                <a:sym typeface="Garet"/>
              </a:rPr>
              <a:t>Data set → Model → Backend → Flutter Application</a:t>
            </a:r>
          </a:p>
        </p:txBody>
      </p:sp>
      <p:sp>
        <p:nvSpPr>
          <p:cNvPr name="AutoShape 6" id="6"/>
          <p:cNvSpPr/>
          <p:nvPr/>
        </p:nvSpPr>
        <p:spPr>
          <a:xfrm>
            <a:off x="1519555" y="7508309"/>
            <a:ext cx="13838306" cy="0"/>
          </a:xfrm>
          <a:prstGeom prst="line">
            <a:avLst/>
          </a:prstGeom>
          <a:ln cap="rnd" w="19050">
            <a:solidFill>
              <a:srgbClr val="000000"/>
            </a:solidFill>
            <a:prstDash val="solid"/>
            <a:headEnd type="none" len="sm" w="sm"/>
            <a:tailEnd type="none" len="sm" w="sm"/>
          </a:ln>
        </p:spPr>
      </p:sp>
      <p:sp>
        <p:nvSpPr>
          <p:cNvPr name="Freeform 7" id="7"/>
          <p:cNvSpPr/>
          <p:nvPr/>
        </p:nvSpPr>
        <p:spPr>
          <a:xfrm flipH="false" flipV="false" rot="5400000">
            <a:off x="15741261" y="6300662"/>
            <a:ext cx="1629446" cy="2396244"/>
          </a:xfrm>
          <a:custGeom>
            <a:avLst/>
            <a:gdLst/>
            <a:ahLst/>
            <a:cxnLst/>
            <a:rect r="r" b="b" t="t" l="l"/>
            <a:pathLst>
              <a:path h="2396244" w="1629446">
                <a:moveTo>
                  <a:pt x="0" y="0"/>
                </a:moveTo>
                <a:lnTo>
                  <a:pt x="1629446" y="0"/>
                </a:lnTo>
                <a:lnTo>
                  <a:pt x="1629446" y="2396245"/>
                </a:lnTo>
                <a:lnTo>
                  <a:pt x="0" y="23962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155801" y="7308408"/>
            <a:ext cx="380752" cy="380752"/>
          </a:xfrm>
          <a:custGeom>
            <a:avLst/>
            <a:gdLst/>
            <a:ahLst/>
            <a:cxnLst/>
            <a:rect r="r" b="b" t="t" l="l"/>
            <a:pathLst>
              <a:path h="380752" w="380752">
                <a:moveTo>
                  <a:pt x="0" y="0"/>
                </a:moveTo>
                <a:lnTo>
                  <a:pt x="380752" y="0"/>
                </a:lnTo>
                <a:lnTo>
                  <a:pt x="380752" y="380753"/>
                </a:lnTo>
                <a:lnTo>
                  <a:pt x="0" y="3807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5953584" y="7308408"/>
            <a:ext cx="380752" cy="380752"/>
          </a:xfrm>
          <a:custGeom>
            <a:avLst/>
            <a:gdLst/>
            <a:ahLst/>
            <a:cxnLst/>
            <a:rect r="r" b="b" t="t" l="l"/>
            <a:pathLst>
              <a:path h="380752" w="380752">
                <a:moveTo>
                  <a:pt x="0" y="0"/>
                </a:moveTo>
                <a:lnTo>
                  <a:pt x="380752" y="0"/>
                </a:lnTo>
                <a:lnTo>
                  <a:pt x="380752" y="380753"/>
                </a:lnTo>
                <a:lnTo>
                  <a:pt x="0" y="3807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9251860" y="7308408"/>
            <a:ext cx="380752" cy="380752"/>
          </a:xfrm>
          <a:custGeom>
            <a:avLst/>
            <a:gdLst/>
            <a:ahLst/>
            <a:cxnLst/>
            <a:rect r="r" b="b" t="t" l="l"/>
            <a:pathLst>
              <a:path h="380752" w="380752">
                <a:moveTo>
                  <a:pt x="0" y="0"/>
                </a:moveTo>
                <a:lnTo>
                  <a:pt x="380753" y="0"/>
                </a:lnTo>
                <a:lnTo>
                  <a:pt x="380753" y="380753"/>
                </a:lnTo>
                <a:lnTo>
                  <a:pt x="0" y="3807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12314705" y="7308408"/>
            <a:ext cx="380752" cy="380752"/>
          </a:xfrm>
          <a:custGeom>
            <a:avLst/>
            <a:gdLst/>
            <a:ahLst/>
            <a:cxnLst/>
            <a:rect r="r" b="b" t="t" l="l"/>
            <a:pathLst>
              <a:path h="380752" w="380752">
                <a:moveTo>
                  <a:pt x="0" y="0"/>
                </a:moveTo>
                <a:lnTo>
                  <a:pt x="380752" y="0"/>
                </a:lnTo>
                <a:lnTo>
                  <a:pt x="380752" y="380753"/>
                </a:lnTo>
                <a:lnTo>
                  <a:pt x="0" y="38075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2" id="12"/>
          <p:cNvGrpSpPr/>
          <p:nvPr/>
        </p:nvGrpSpPr>
        <p:grpSpPr>
          <a:xfrm rot="0">
            <a:off x="583669" y="5597616"/>
            <a:ext cx="3905769" cy="1539342"/>
            <a:chOff x="0" y="0"/>
            <a:chExt cx="5207692" cy="2052456"/>
          </a:xfrm>
        </p:grpSpPr>
        <p:sp>
          <p:nvSpPr>
            <p:cNvPr name="TextBox 13" id="13"/>
            <p:cNvSpPr txBox="true"/>
            <p:nvPr/>
          </p:nvSpPr>
          <p:spPr>
            <a:xfrm rot="0">
              <a:off x="12700" y="-28575"/>
              <a:ext cx="3036979"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Data set</a:t>
              </a:r>
            </a:p>
          </p:txBody>
        </p:sp>
        <p:sp>
          <p:nvSpPr>
            <p:cNvPr name="TextBox 14" id="14"/>
            <p:cNvSpPr txBox="true"/>
            <p:nvPr/>
          </p:nvSpPr>
          <p:spPr>
            <a:xfrm rot="0">
              <a:off x="0" y="622859"/>
              <a:ext cx="5207692" cy="1429597"/>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Garet"/>
                  <a:ea typeface="Garet"/>
                  <a:cs typeface="Garet"/>
                  <a:sym typeface="Garet"/>
                </a:rPr>
                <a:t>NIH ChestX-ray14</a:t>
              </a:r>
            </a:p>
            <a:p>
              <a:pPr algn="l" marL="474979" indent="-237490" lvl="1">
                <a:lnSpc>
                  <a:spcPts val="2859"/>
                </a:lnSpc>
                <a:spcBef>
                  <a:spcPct val="0"/>
                </a:spcBef>
                <a:buFont typeface="Arial"/>
                <a:buChar char="•"/>
              </a:pPr>
              <a:r>
                <a:rPr lang="en-US" sz="2199">
                  <a:solidFill>
                    <a:srgbClr val="000000"/>
                  </a:solidFill>
                  <a:latin typeface="Garet"/>
                  <a:ea typeface="Garet"/>
                  <a:cs typeface="Garet"/>
                  <a:sym typeface="Garet"/>
                </a:rPr>
                <a:t>Preprocessing &amp; data imbalance solutions</a:t>
              </a:r>
            </a:p>
          </p:txBody>
        </p:sp>
      </p:grpSp>
      <p:grpSp>
        <p:nvGrpSpPr>
          <p:cNvPr name="Group 15" id="15"/>
          <p:cNvGrpSpPr/>
          <p:nvPr/>
        </p:nvGrpSpPr>
        <p:grpSpPr>
          <a:xfrm rot="0">
            <a:off x="4247273" y="7689161"/>
            <a:ext cx="4174127" cy="1901292"/>
            <a:chOff x="0" y="0"/>
            <a:chExt cx="5565502" cy="2535056"/>
          </a:xfrm>
        </p:grpSpPr>
        <p:sp>
          <p:nvSpPr>
            <p:cNvPr name="TextBox 16" id="16"/>
            <p:cNvSpPr txBox="true"/>
            <p:nvPr/>
          </p:nvSpPr>
          <p:spPr>
            <a:xfrm rot="0">
              <a:off x="0" y="-28575"/>
              <a:ext cx="3036979"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Model</a:t>
              </a:r>
            </a:p>
          </p:txBody>
        </p:sp>
        <p:sp>
          <p:nvSpPr>
            <p:cNvPr name="TextBox 17" id="17"/>
            <p:cNvSpPr txBox="true"/>
            <p:nvPr/>
          </p:nvSpPr>
          <p:spPr>
            <a:xfrm rot="0">
              <a:off x="0" y="622859"/>
              <a:ext cx="5565502" cy="1912197"/>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Garet"/>
                  <a:ea typeface="Garet"/>
                  <a:cs typeface="Garet"/>
                  <a:sym typeface="Garet"/>
                </a:rPr>
                <a:t>CNN-based multi-label classification</a:t>
              </a:r>
            </a:p>
            <a:p>
              <a:pPr algn="l" marL="474979" indent="-237490" lvl="1">
                <a:lnSpc>
                  <a:spcPts val="2859"/>
                </a:lnSpc>
                <a:spcBef>
                  <a:spcPct val="0"/>
                </a:spcBef>
                <a:buFont typeface="Arial"/>
                <a:buChar char="•"/>
              </a:pPr>
              <a:r>
                <a:rPr lang="en-US" sz="2199">
                  <a:solidFill>
                    <a:srgbClr val="000000"/>
                  </a:solidFill>
                  <a:latin typeface="Garet"/>
                  <a:ea typeface="Garet"/>
                  <a:cs typeface="Garet"/>
                  <a:sym typeface="Garet"/>
                </a:rPr>
                <a:t>Evaluation using AUC / Precision / Recall / F1</a:t>
              </a:r>
            </a:p>
          </p:txBody>
        </p:sp>
      </p:grpSp>
      <p:grpSp>
        <p:nvGrpSpPr>
          <p:cNvPr name="Group 18" id="18"/>
          <p:cNvGrpSpPr/>
          <p:nvPr/>
        </p:nvGrpSpPr>
        <p:grpSpPr>
          <a:xfrm rot="0">
            <a:off x="7752039" y="5235666"/>
            <a:ext cx="4943418" cy="1901292"/>
            <a:chOff x="0" y="0"/>
            <a:chExt cx="6591224" cy="2535056"/>
          </a:xfrm>
        </p:grpSpPr>
        <p:sp>
          <p:nvSpPr>
            <p:cNvPr name="TextBox 19" id="19"/>
            <p:cNvSpPr txBox="true"/>
            <p:nvPr/>
          </p:nvSpPr>
          <p:spPr>
            <a:xfrm rot="0">
              <a:off x="0" y="-28575"/>
              <a:ext cx="3036979"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Backend</a:t>
              </a:r>
            </a:p>
          </p:txBody>
        </p:sp>
        <p:sp>
          <p:nvSpPr>
            <p:cNvPr name="TextBox 20" id="20"/>
            <p:cNvSpPr txBox="true"/>
            <p:nvPr/>
          </p:nvSpPr>
          <p:spPr>
            <a:xfrm rot="0">
              <a:off x="0" y="622859"/>
              <a:ext cx="6591224" cy="1912197"/>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Garet"/>
                  <a:ea typeface="Garet"/>
                  <a:cs typeface="Garet"/>
                  <a:sym typeface="Garet"/>
                </a:rPr>
                <a:t>Model deployment</a:t>
              </a:r>
            </a:p>
            <a:p>
              <a:pPr algn="l" marL="474979" indent="-237490" lvl="1">
                <a:lnSpc>
                  <a:spcPts val="2859"/>
                </a:lnSpc>
                <a:buFont typeface="Arial"/>
                <a:buChar char="•"/>
              </a:pPr>
              <a:r>
                <a:rPr lang="en-US" sz="2199">
                  <a:solidFill>
                    <a:srgbClr val="000000"/>
                  </a:solidFill>
                  <a:latin typeface="Garet"/>
                  <a:ea typeface="Garet"/>
                  <a:cs typeface="Garet"/>
                  <a:sym typeface="Garet"/>
                </a:rPr>
                <a:t>Pred</a:t>
              </a:r>
              <a:r>
                <a:rPr lang="en-US" sz="2199">
                  <a:solidFill>
                    <a:srgbClr val="000000"/>
                  </a:solidFill>
                  <a:latin typeface="Garet"/>
                  <a:ea typeface="Garet"/>
                  <a:cs typeface="Garet"/>
                  <a:sym typeface="Garet"/>
                </a:rPr>
                <a:t>iction + Grad-CAM++ generation</a:t>
              </a:r>
            </a:p>
            <a:p>
              <a:pPr algn="l" marL="474979" indent="-237490" lvl="1">
                <a:lnSpc>
                  <a:spcPts val="2859"/>
                </a:lnSpc>
                <a:spcBef>
                  <a:spcPct val="0"/>
                </a:spcBef>
                <a:buFont typeface="Arial"/>
                <a:buChar char="•"/>
              </a:pPr>
              <a:r>
                <a:rPr lang="en-US" sz="2199">
                  <a:solidFill>
                    <a:srgbClr val="000000"/>
                  </a:solidFill>
                  <a:latin typeface="Garet"/>
                  <a:ea typeface="Garet"/>
                  <a:cs typeface="Garet"/>
                  <a:sym typeface="Garet"/>
                </a:rPr>
                <a:t>Result delivery via API</a:t>
              </a:r>
            </a:p>
          </p:txBody>
        </p:sp>
      </p:grpSp>
      <p:grpSp>
        <p:nvGrpSpPr>
          <p:cNvPr name="Group 21" id="21"/>
          <p:cNvGrpSpPr/>
          <p:nvPr/>
        </p:nvGrpSpPr>
        <p:grpSpPr>
          <a:xfrm rot="0">
            <a:off x="10934187" y="7860611"/>
            <a:ext cx="4642786" cy="1901292"/>
            <a:chOff x="0" y="0"/>
            <a:chExt cx="6190381" cy="2535056"/>
          </a:xfrm>
        </p:grpSpPr>
        <p:sp>
          <p:nvSpPr>
            <p:cNvPr name="TextBox 22" id="22"/>
            <p:cNvSpPr txBox="true"/>
            <p:nvPr/>
          </p:nvSpPr>
          <p:spPr>
            <a:xfrm rot="0">
              <a:off x="0" y="-28575"/>
              <a:ext cx="5498615"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React Native Interface</a:t>
              </a:r>
            </a:p>
          </p:txBody>
        </p:sp>
        <p:sp>
          <p:nvSpPr>
            <p:cNvPr name="TextBox 23" id="23"/>
            <p:cNvSpPr txBox="true"/>
            <p:nvPr/>
          </p:nvSpPr>
          <p:spPr>
            <a:xfrm rot="0">
              <a:off x="0" y="622859"/>
              <a:ext cx="6190381" cy="1912197"/>
            </a:xfrm>
            <a:prstGeom prst="rect">
              <a:avLst/>
            </a:prstGeom>
          </p:spPr>
          <p:txBody>
            <a:bodyPr anchor="t" rtlCol="false" tIns="0" lIns="0" bIns="0" rIns="0">
              <a:spAutoFit/>
            </a:bodyPr>
            <a:lstStyle/>
            <a:p>
              <a:pPr algn="l" marL="474979" indent="-237490" lvl="1">
                <a:lnSpc>
                  <a:spcPts val="2859"/>
                </a:lnSpc>
                <a:buFont typeface="Arial"/>
                <a:buChar char="•"/>
              </a:pPr>
              <a:r>
                <a:rPr lang="en-US" sz="2199">
                  <a:solidFill>
                    <a:srgbClr val="000000"/>
                  </a:solidFill>
                  <a:latin typeface="Garet"/>
                  <a:ea typeface="Garet"/>
                  <a:cs typeface="Garet"/>
                  <a:sym typeface="Garet"/>
                </a:rPr>
                <a:t>Image upload</a:t>
              </a:r>
            </a:p>
            <a:p>
              <a:pPr algn="l" marL="474979" indent="-237490" lvl="1">
                <a:lnSpc>
                  <a:spcPts val="2859"/>
                </a:lnSpc>
                <a:buFont typeface="Arial"/>
                <a:buChar char="•"/>
              </a:pPr>
              <a:r>
                <a:rPr lang="en-US" sz="2199">
                  <a:solidFill>
                    <a:srgbClr val="000000"/>
                  </a:solidFill>
                  <a:latin typeface="Garet"/>
                  <a:ea typeface="Garet"/>
                  <a:cs typeface="Garet"/>
                  <a:sym typeface="Garet"/>
                </a:rPr>
                <a:t>Disease probability values</a:t>
              </a:r>
            </a:p>
            <a:p>
              <a:pPr algn="l" marL="474979" indent="-237490" lvl="1">
                <a:lnSpc>
                  <a:spcPts val="2859"/>
                </a:lnSpc>
                <a:spcBef>
                  <a:spcPct val="0"/>
                </a:spcBef>
                <a:buFont typeface="Arial"/>
                <a:buChar char="•"/>
              </a:pPr>
              <a:r>
                <a:rPr lang="en-US" sz="2199">
                  <a:solidFill>
                    <a:srgbClr val="000000"/>
                  </a:solidFill>
                  <a:latin typeface="Garet"/>
                  <a:ea typeface="Garet"/>
                  <a:cs typeface="Garet"/>
                  <a:sym typeface="Garet"/>
                </a:rPr>
                <a:t>Grad-CAM++ heatmap display</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6797105" y="2219243"/>
            <a:ext cx="11301259" cy="5452857"/>
          </a:xfrm>
          <a:custGeom>
            <a:avLst/>
            <a:gdLst/>
            <a:ahLst/>
            <a:cxnLst/>
            <a:rect r="r" b="b" t="t" l="l"/>
            <a:pathLst>
              <a:path h="5452857" w="11301259">
                <a:moveTo>
                  <a:pt x="0" y="0"/>
                </a:moveTo>
                <a:lnTo>
                  <a:pt x="11301259" y="0"/>
                </a:lnTo>
                <a:lnTo>
                  <a:pt x="11301259" y="5452857"/>
                </a:lnTo>
                <a:lnTo>
                  <a:pt x="0" y="5452857"/>
                </a:lnTo>
                <a:lnTo>
                  <a:pt x="0" y="0"/>
                </a:lnTo>
                <a:close/>
              </a:path>
            </a:pathLst>
          </a:custGeom>
          <a:blipFill>
            <a:blip r:embed="rId3"/>
            <a:stretch>
              <a:fillRect l="0" t="0" r="0" b="0"/>
            </a:stretch>
          </a:blipFill>
        </p:spPr>
      </p:sp>
      <p:sp>
        <p:nvSpPr>
          <p:cNvPr name="TextBox 6" id="6"/>
          <p:cNvSpPr txBox="true"/>
          <p:nvPr/>
        </p:nvSpPr>
        <p:spPr>
          <a:xfrm rot="0">
            <a:off x="1136560" y="1123950"/>
            <a:ext cx="7203393"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Model Architecture</a:t>
            </a:r>
          </a:p>
          <a:p>
            <a:pPr algn="l">
              <a:lnSpc>
                <a:spcPts val="5808"/>
              </a:lnSpc>
            </a:pPr>
          </a:p>
        </p:txBody>
      </p:sp>
      <p:sp>
        <p:nvSpPr>
          <p:cNvPr name="TextBox 7" id="7"/>
          <p:cNvSpPr txBox="true"/>
          <p:nvPr/>
        </p:nvSpPr>
        <p:spPr>
          <a:xfrm rot="0">
            <a:off x="296515" y="2485286"/>
            <a:ext cx="6364797" cy="4901722"/>
          </a:xfrm>
          <a:prstGeom prst="rect">
            <a:avLst/>
          </a:prstGeom>
        </p:spPr>
        <p:txBody>
          <a:bodyPr anchor="t" rtlCol="false" tIns="0" lIns="0" bIns="0" rIns="0">
            <a:spAutoFit/>
          </a:bodyPr>
          <a:lstStyle/>
          <a:p>
            <a:pPr algn="l">
              <a:lnSpc>
                <a:spcPts val="3298"/>
              </a:lnSpc>
              <a:spcBef>
                <a:spcPct val="0"/>
              </a:spcBef>
            </a:pPr>
            <a:r>
              <a:rPr lang="en-US" sz="2537">
                <a:solidFill>
                  <a:srgbClr val="000000"/>
                </a:solidFill>
                <a:latin typeface="Garet"/>
                <a:ea typeface="Garet"/>
                <a:cs typeface="Garet"/>
                <a:sym typeface="Garet"/>
              </a:rPr>
              <a:t>•</a:t>
            </a:r>
            <a:r>
              <a:rPr lang="en-US" b="true" sz="2537">
                <a:solidFill>
                  <a:srgbClr val="000000"/>
                </a:solidFill>
                <a:latin typeface="Garet Bold"/>
                <a:ea typeface="Garet Bold"/>
                <a:cs typeface="Garet Bold"/>
                <a:sym typeface="Garet Bold"/>
              </a:rPr>
              <a:t>Backbone: </a:t>
            </a:r>
            <a:r>
              <a:rPr lang="en-US" sz="2537">
                <a:solidFill>
                  <a:srgbClr val="000000"/>
                </a:solidFill>
                <a:latin typeface="Garet"/>
                <a:ea typeface="Garet"/>
                <a:cs typeface="Garet"/>
                <a:sym typeface="Garet"/>
              </a:rPr>
              <a:t>DenseNet-121</a:t>
            </a:r>
          </a:p>
          <a:p>
            <a:pPr algn="l">
              <a:lnSpc>
                <a:spcPts val="3298"/>
              </a:lnSpc>
              <a:spcBef>
                <a:spcPct val="0"/>
              </a:spcBef>
            </a:pPr>
          </a:p>
          <a:p>
            <a:pPr algn="l">
              <a:lnSpc>
                <a:spcPts val="3298"/>
              </a:lnSpc>
              <a:spcBef>
                <a:spcPct val="0"/>
              </a:spcBef>
            </a:pPr>
            <a:r>
              <a:rPr lang="en-US" sz="2537">
                <a:solidFill>
                  <a:srgbClr val="000000"/>
                </a:solidFill>
                <a:latin typeface="Garet"/>
                <a:ea typeface="Garet"/>
                <a:cs typeface="Garet"/>
                <a:sym typeface="Garet"/>
              </a:rPr>
              <a:t>•</a:t>
            </a:r>
            <a:r>
              <a:rPr lang="en-US" b="true" sz="2537">
                <a:solidFill>
                  <a:srgbClr val="000000"/>
                </a:solidFill>
                <a:latin typeface="Garet Bold"/>
                <a:ea typeface="Garet Bold"/>
                <a:cs typeface="Garet Bold"/>
                <a:sym typeface="Garet Bold"/>
              </a:rPr>
              <a:t>Frozen Layers:</a:t>
            </a:r>
            <a:r>
              <a:rPr lang="en-US" sz="2537">
                <a:solidFill>
                  <a:srgbClr val="000000"/>
                </a:solidFill>
                <a:latin typeface="Garet"/>
                <a:ea typeface="Garet"/>
                <a:cs typeface="Garet"/>
                <a:sym typeface="Garet"/>
              </a:rPr>
              <a:t> First Dense Blocks and Transition Layer</a:t>
            </a:r>
          </a:p>
          <a:p>
            <a:pPr algn="l">
              <a:lnSpc>
                <a:spcPts val="3298"/>
              </a:lnSpc>
              <a:spcBef>
                <a:spcPct val="0"/>
              </a:spcBef>
            </a:pPr>
          </a:p>
          <a:p>
            <a:pPr algn="l">
              <a:lnSpc>
                <a:spcPts val="3298"/>
              </a:lnSpc>
              <a:spcBef>
                <a:spcPct val="0"/>
              </a:spcBef>
            </a:pPr>
            <a:r>
              <a:rPr lang="en-US" sz="2537">
                <a:solidFill>
                  <a:srgbClr val="000000"/>
                </a:solidFill>
                <a:latin typeface="Garet"/>
                <a:ea typeface="Garet"/>
                <a:cs typeface="Garet"/>
                <a:sym typeface="Garet"/>
              </a:rPr>
              <a:t>•</a:t>
            </a:r>
            <a:r>
              <a:rPr lang="en-US" b="true" sz="2537">
                <a:solidFill>
                  <a:srgbClr val="000000"/>
                </a:solidFill>
                <a:latin typeface="Garet Bold"/>
                <a:ea typeface="Garet Bold"/>
                <a:cs typeface="Garet Bold"/>
                <a:sym typeface="Garet Bold"/>
              </a:rPr>
              <a:t>Classifier: </a:t>
            </a:r>
            <a:r>
              <a:rPr lang="en-US" sz="2537">
                <a:solidFill>
                  <a:srgbClr val="000000"/>
                </a:solidFill>
                <a:latin typeface="Garet"/>
                <a:ea typeface="Garet"/>
                <a:cs typeface="Garet"/>
                <a:sym typeface="Garet"/>
              </a:rPr>
              <a:t>14 class multi-label prediction output</a:t>
            </a:r>
          </a:p>
          <a:p>
            <a:pPr algn="l">
              <a:lnSpc>
                <a:spcPts val="3298"/>
              </a:lnSpc>
              <a:spcBef>
                <a:spcPct val="0"/>
              </a:spcBef>
            </a:pPr>
          </a:p>
          <a:p>
            <a:pPr algn="l">
              <a:lnSpc>
                <a:spcPts val="3298"/>
              </a:lnSpc>
              <a:spcBef>
                <a:spcPct val="0"/>
              </a:spcBef>
            </a:pPr>
            <a:r>
              <a:rPr lang="en-US" sz="2537">
                <a:solidFill>
                  <a:srgbClr val="000000"/>
                </a:solidFill>
                <a:latin typeface="Garet"/>
                <a:ea typeface="Garet"/>
                <a:cs typeface="Garet"/>
                <a:sym typeface="Garet"/>
              </a:rPr>
              <a:t>•</a:t>
            </a:r>
            <a:r>
              <a:rPr lang="en-US" b="true" sz="2537">
                <a:solidFill>
                  <a:srgbClr val="000000"/>
                </a:solidFill>
                <a:latin typeface="Garet Bold"/>
                <a:ea typeface="Garet Bold"/>
                <a:cs typeface="Garet Bold"/>
                <a:sym typeface="Garet Bold"/>
              </a:rPr>
              <a:t>Feature Extraction: </a:t>
            </a:r>
            <a:r>
              <a:rPr lang="en-US" sz="2537">
                <a:solidFill>
                  <a:srgbClr val="000000"/>
                </a:solidFill>
                <a:latin typeface="Garet"/>
                <a:ea typeface="Garet"/>
                <a:cs typeface="Garet"/>
                <a:sym typeface="Garet"/>
              </a:rPr>
              <a:t>Four dense blocks with CBAM after each block</a:t>
            </a:r>
          </a:p>
          <a:p>
            <a:pPr algn="l">
              <a:lnSpc>
                <a:spcPts val="3298"/>
              </a:lnSpc>
              <a:spcBef>
                <a:spcPct val="0"/>
              </a:spcBef>
            </a:pPr>
          </a:p>
          <a:p>
            <a:pPr algn="l">
              <a:lnSpc>
                <a:spcPts val="3298"/>
              </a:lnSpc>
              <a:spcBef>
                <a:spcPct val="0"/>
              </a:spcBef>
            </a:pPr>
            <a:r>
              <a:rPr lang="en-US" sz="2537">
                <a:solidFill>
                  <a:srgbClr val="000000"/>
                </a:solidFill>
                <a:latin typeface="Garet"/>
                <a:ea typeface="Garet"/>
                <a:cs typeface="Garet"/>
                <a:sym typeface="Garet"/>
              </a:rPr>
              <a:t>•</a:t>
            </a:r>
            <a:r>
              <a:rPr lang="en-US" b="true" sz="2537">
                <a:solidFill>
                  <a:srgbClr val="000000"/>
                </a:solidFill>
                <a:latin typeface="Garet Bold"/>
                <a:ea typeface="Garet Bold"/>
                <a:cs typeface="Garet Bold"/>
                <a:sym typeface="Garet Bold"/>
              </a:rPr>
              <a:t>Input Size: </a:t>
            </a:r>
            <a:r>
              <a:rPr lang="en-US" sz="2537">
                <a:solidFill>
                  <a:srgbClr val="000000"/>
                </a:solidFill>
                <a:latin typeface="Garet"/>
                <a:ea typeface="Garet"/>
                <a:cs typeface="Garet"/>
                <a:sym typeface="Garet"/>
              </a:rPr>
              <a:t>512x512 grayscale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9325086" y="1718302"/>
            <a:ext cx="8167387" cy="6850396"/>
          </a:xfrm>
          <a:custGeom>
            <a:avLst/>
            <a:gdLst/>
            <a:ahLst/>
            <a:cxnLst/>
            <a:rect r="r" b="b" t="t" l="l"/>
            <a:pathLst>
              <a:path h="6850396" w="8167387">
                <a:moveTo>
                  <a:pt x="0" y="0"/>
                </a:moveTo>
                <a:lnTo>
                  <a:pt x="8167387" y="0"/>
                </a:lnTo>
                <a:lnTo>
                  <a:pt x="8167387" y="6850396"/>
                </a:lnTo>
                <a:lnTo>
                  <a:pt x="0" y="6850396"/>
                </a:lnTo>
                <a:lnTo>
                  <a:pt x="0" y="0"/>
                </a:lnTo>
                <a:close/>
              </a:path>
            </a:pathLst>
          </a:custGeom>
          <a:blipFill>
            <a:blip r:embed="rId3"/>
            <a:stretch>
              <a:fillRect l="0" t="0" r="0" b="0"/>
            </a:stretch>
          </a:blipFill>
        </p:spPr>
      </p:sp>
      <p:sp>
        <p:nvSpPr>
          <p:cNvPr name="TextBox 6" id="6"/>
          <p:cNvSpPr txBox="true"/>
          <p:nvPr/>
        </p:nvSpPr>
        <p:spPr>
          <a:xfrm rot="0">
            <a:off x="1136560" y="241694"/>
            <a:ext cx="13591999" cy="225255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CBAM </a:t>
            </a:r>
          </a:p>
          <a:p>
            <a:pPr algn="l">
              <a:lnSpc>
                <a:spcPts val="5808"/>
              </a:lnSpc>
            </a:pPr>
            <a:r>
              <a:rPr lang="en-US" sz="5808" spc="-458">
                <a:solidFill>
                  <a:srgbClr val="000000"/>
                </a:solidFill>
                <a:latin typeface="Archivo Black"/>
                <a:ea typeface="Archivo Black"/>
                <a:cs typeface="Archivo Black"/>
                <a:sym typeface="Archivo Black"/>
              </a:rPr>
              <a:t>(Convolu</a:t>
            </a:r>
            <a:r>
              <a:rPr lang="en-US" sz="5808" spc="-458">
                <a:solidFill>
                  <a:srgbClr val="000000"/>
                </a:solidFill>
                <a:latin typeface="Archivo Black"/>
                <a:ea typeface="Archivo Black"/>
                <a:cs typeface="Archivo Black"/>
                <a:sym typeface="Archivo Black"/>
              </a:rPr>
              <a:t>tion Block Attention Module)</a:t>
            </a:r>
          </a:p>
          <a:p>
            <a:pPr algn="l">
              <a:lnSpc>
                <a:spcPts val="5808"/>
              </a:lnSpc>
            </a:pPr>
          </a:p>
        </p:txBody>
      </p:sp>
      <p:sp>
        <p:nvSpPr>
          <p:cNvPr name="TextBox 7" id="7"/>
          <p:cNvSpPr txBox="true"/>
          <p:nvPr/>
        </p:nvSpPr>
        <p:spPr>
          <a:xfrm rot="0">
            <a:off x="759390" y="2210203"/>
            <a:ext cx="7624964" cy="5000335"/>
          </a:xfrm>
          <a:prstGeom prst="rect">
            <a:avLst/>
          </a:prstGeom>
        </p:spPr>
        <p:txBody>
          <a:bodyPr anchor="t" rtlCol="false" tIns="0" lIns="0" bIns="0" rIns="0">
            <a:spAutoFit/>
          </a:bodyPr>
          <a:lstStyle/>
          <a:p>
            <a:pPr algn="l">
              <a:lnSpc>
                <a:spcPts val="3636"/>
              </a:lnSpc>
              <a:spcBef>
                <a:spcPct val="0"/>
              </a:spcBef>
            </a:pPr>
            <a:r>
              <a:rPr lang="en-US" b="true" sz="2797">
                <a:solidFill>
                  <a:srgbClr val="000000"/>
                </a:solidFill>
                <a:latin typeface="Garet Bold"/>
                <a:ea typeface="Garet Bold"/>
                <a:cs typeface="Garet Bold"/>
                <a:sym typeface="Garet Bold"/>
              </a:rPr>
              <a:t>Channel Attention</a:t>
            </a:r>
          </a:p>
          <a:p>
            <a:pPr algn="l">
              <a:lnSpc>
                <a:spcPts val="3636"/>
              </a:lnSpc>
              <a:spcBef>
                <a:spcPct val="0"/>
              </a:spcBef>
            </a:pPr>
            <a:r>
              <a:rPr lang="en-US" sz="2797">
                <a:solidFill>
                  <a:srgbClr val="000000"/>
                </a:solidFill>
                <a:latin typeface="Garet"/>
                <a:ea typeface="Garet"/>
                <a:cs typeface="Garet"/>
                <a:sym typeface="Garet"/>
              </a:rPr>
              <a:t>•Allows the model to distinguish which feature maps are important.</a:t>
            </a:r>
          </a:p>
          <a:p>
            <a:pPr algn="l">
              <a:lnSpc>
                <a:spcPts val="3636"/>
              </a:lnSpc>
              <a:spcBef>
                <a:spcPct val="0"/>
              </a:spcBef>
            </a:pPr>
            <a:r>
              <a:rPr lang="en-US" sz="2797">
                <a:solidFill>
                  <a:srgbClr val="000000"/>
                </a:solidFill>
                <a:latin typeface="Garet"/>
                <a:ea typeface="Garet"/>
                <a:cs typeface="Garet"/>
                <a:sym typeface="Garet"/>
              </a:rPr>
              <a:t>•Uses an MLP to update channel weights</a:t>
            </a:r>
          </a:p>
          <a:p>
            <a:pPr algn="l">
              <a:lnSpc>
                <a:spcPts val="3636"/>
              </a:lnSpc>
              <a:spcBef>
                <a:spcPct val="0"/>
              </a:spcBef>
            </a:pPr>
          </a:p>
          <a:p>
            <a:pPr algn="l">
              <a:lnSpc>
                <a:spcPts val="3636"/>
              </a:lnSpc>
              <a:spcBef>
                <a:spcPct val="0"/>
              </a:spcBef>
            </a:pPr>
            <a:r>
              <a:rPr lang="en-US" b="true" sz="2797">
                <a:solidFill>
                  <a:srgbClr val="000000"/>
                </a:solidFill>
                <a:latin typeface="Garet Bold"/>
                <a:ea typeface="Garet Bold"/>
                <a:cs typeface="Garet Bold"/>
                <a:sym typeface="Garet Bold"/>
              </a:rPr>
              <a:t>Spatial Attention</a:t>
            </a:r>
          </a:p>
          <a:p>
            <a:pPr algn="l">
              <a:lnSpc>
                <a:spcPts val="3636"/>
              </a:lnSpc>
              <a:spcBef>
                <a:spcPct val="0"/>
              </a:spcBef>
            </a:pPr>
            <a:r>
              <a:rPr lang="en-US" sz="2797">
                <a:solidFill>
                  <a:srgbClr val="000000"/>
                </a:solidFill>
                <a:latin typeface="Garet"/>
                <a:ea typeface="Garet"/>
                <a:cs typeface="Garet"/>
                <a:sym typeface="Garet"/>
              </a:rPr>
              <a:t>•Allows the model to highlight specific areas on the feature map that are more relevant.</a:t>
            </a:r>
          </a:p>
          <a:p>
            <a:pPr algn="l">
              <a:lnSpc>
                <a:spcPts val="3636"/>
              </a:lnSpc>
              <a:spcBef>
                <a:spcPct val="0"/>
              </a:spcBef>
            </a:pPr>
            <a:r>
              <a:rPr lang="en-US" sz="2797">
                <a:solidFill>
                  <a:srgbClr val="000000"/>
                </a:solidFill>
                <a:latin typeface="Garet"/>
                <a:ea typeface="Garet"/>
                <a:cs typeface="Garet"/>
                <a:sym typeface="Garet"/>
              </a:rPr>
              <a:t>•Uses a convolutional layer to update individual values on the feature map.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6678408" y="2347445"/>
            <a:ext cx="11301259" cy="5622376"/>
          </a:xfrm>
          <a:custGeom>
            <a:avLst/>
            <a:gdLst/>
            <a:ahLst/>
            <a:cxnLst/>
            <a:rect r="r" b="b" t="t" l="l"/>
            <a:pathLst>
              <a:path h="5622376" w="11301259">
                <a:moveTo>
                  <a:pt x="0" y="0"/>
                </a:moveTo>
                <a:lnTo>
                  <a:pt x="11301259" y="0"/>
                </a:lnTo>
                <a:lnTo>
                  <a:pt x="11301259" y="5622376"/>
                </a:lnTo>
                <a:lnTo>
                  <a:pt x="0" y="5622376"/>
                </a:lnTo>
                <a:lnTo>
                  <a:pt x="0" y="0"/>
                </a:lnTo>
                <a:close/>
              </a:path>
            </a:pathLst>
          </a:custGeom>
          <a:blipFill>
            <a:blip r:embed="rId3"/>
            <a:stretch>
              <a:fillRect l="0" t="0" r="0" b="0"/>
            </a:stretch>
          </a:blipFill>
        </p:spPr>
      </p:sp>
      <p:sp>
        <p:nvSpPr>
          <p:cNvPr name="TextBox 6" id="6"/>
          <p:cNvSpPr txBox="true"/>
          <p:nvPr/>
        </p:nvSpPr>
        <p:spPr>
          <a:xfrm rot="0">
            <a:off x="651881" y="505972"/>
            <a:ext cx="14393204" cy="2018030"/>
          </a:xfrm>
          <a:prstGeom prst="rect">
            <a:avLst/>
          </a:prstGeom>
        </p:spPr>
        <p:txBody>
          <a:bodyPr anchor="t" rtlCol="false" tIns="0" lIns="0" bIns="0" rIns="0">
            <a:spAutoFit/>
          </a:bodyPr>
          <a:lstStyle/>
          <a:p>
            <a:pPr algn="l">
              <a:lnSpc>
                <a:spcPts val="5199"/>
              </a:lnSpc>
            </a:pPr>
            <a:r>
              <a:rPr lang="en-US" sz="5199" spc="-410">
                <a:solidFill>
                  <a:srgbClr val="000000"/>
                </a:solidFill>
                <a:latin typeface="Archivo Black"/>
                <a:ea typeface="Archivo Black"/>
                <a:cs typeface="Archivo Black"/>
                <a:sym typeface="Archivo Black"/>
              </a:rPr>
              <a:t>Standard GRAD-CAM++ </a:t>
            </a:r>
          </a:p>
          <a:p>
            <a:pPr algn="l">
              <a:lnSpc>
                <a:spcPts val="5199"/>
              </a:lnSpc>
            </a:pPr>
            <a:r>
              <a:rPr lang="en-US" sz="5199" spc="-410">
                <a:solidFill>
                  <a:srgbClr val="000000"/>
                </a:solidFill>
                <a:latin typeface="Archivo Black"/>
                <a:ea typeface="Archivo Black"/>
                <a:cs typeface="Archivo Black"/>
                <a:sym typeface="Archivo Black"/>
              </a:rPr>
              <a:t>(Gradien</a:t>
            </a:r>
            <a:r>
              <a:rPr lang="en-US" sz="5199" spc="-410">
                <a:solidFill>
                  <a:srgbClr val="000000"/>
                </a:solidFill>
                <a:latin typeface="Archivo Black"/>
                <a:ea typeface="Archivo Black"/>
                <a:cs typeface="Archivo Black"/>
                <a:sym typeface="Archivo Black"/>
              </a:rPr>
              <a:t>t-weighted Class Activation Mapping)</a:t>
            </a:r>
          </a:p>
          <a:p>
            <a:pPr algn="l">
              <a:lnSpc>
                <a:spcPts val="5199"/>
              </a:lnSpc>
            </a:pPr>
          </a:p>
        </p:txBody>
      </p:sp>
      <p:sp>
        <p:nvSpPr>
          <p:cNvPr name="TextBox 7" id="7"/>
          <p:cNvSpPr txBox="true"/>
          <p:nvPr/>
        </p:nvSpPr>
        <p:spPr>
          <a:xfrm rot="0">
            <a:off x="363734" y="2404622"/>
            <a:ext cx="5706029" cy="5479447"/>
          </a:xfrm>
          <a:prstGeom prst="rect">
            <a:avLst/>
          </a:prstGeom>
        </p:spPr>
        <p:txBody>
          <a:bodyPr anchor="t" rtlCol="false" tIns="0" lIns="0" bIns="0" rIns="0">
            <a:spAutoFit/>
          </a:bodyPr>
          <a:lstStyle/>
          <a:p>
            <a:pPr algn="l">
              <a:lnSpc>
                <a:spcPts val="3636"/>
              </a:lnSpc>
              <a:spcBef>
                <a:spcPct val="0"/>
              </a:spcBef>
            </a:pPr>
            <a:r>
              <a:rPr lang="en-US" b="true" sz="2797">
                <a:solidFill>
                  <a:srgbClr val="000000"/>
                </a:solidFill>
                <a:latin typeface="Garet Bold"/>
                <a:ea typeface="Garet Bold"/>
                <a:cs typeface="Garet Bold"/>
                <a:sym typeface="Garet Bold"/>
              </a:rPr>
              <a:t>• </a:t>
            </a:r>
            <a:r>
              <a:rPr lang="en-US" sz="2797">
                <a:solidFill>
                  <a:srgbClr val="000000"/>
                </a:solidFill>
                <a:latin typeface="Garet"/>
                <a:ea typeface="Garet"/>
                <a:cs typeface="Garet"/>
                <a:sym typeface="Garet"/>
              </a:rPr>
              <a:t>Uses gr</a:t>
            </a:r>
            <a:r>
              <a:rPr lang="en-US" sz="2797">
                <a:solidFill>
                  <a:srgbClr val="000000"/>
                </a:solidFill>
                <a:latin typeface="Garet"/>
                <a:ea typeface="Garet"/>
                <a:cs typeface="Garet"/>
                <a:sym typeface="Garet"/>
              </a:rPr>
              <a:t>adients before the last convolutional layer (dense block) to generate heatmaps displaying areas that are relevant to the prediction.</a:t>
            </a:r>
          </a:p>
          <a:p>
            <a:pPr algn="l">
              <a:lnSpc>
                <a:spcPts val="3636"/>
              </a:lnSpc>
              <a:spcBef>
                <a:spcPct val="0"/>
              </a:spcBef>
            </a:pPr>
          </a:p>
          <a:p>
            <a:pPr algn="l">
              <a:lnSpc>
                <a:spcPts val="3636"/>
              </a:lnSpc>
              <a:spcBef>
                <a:spcPct val="0"/>
              </a:spcBef>
            </a:pPr>
            <a:r>
              <a:rPr lang="en-US" b="true" sz="2797">
                <a:solidFill>
                  <a:srgbClr val="000000"/>
                </a:solidFill>
                <a:latin typeface="Garet Bold"/>
                <a:ea typeface="Garet Bold"/>
                <a:cs typeface="Garet Bold"/>
                <a:sym typeface="Garet Bold"/>
              </a:rPr>
              <a:t>• </a:t>
            </a:r>
            <a:r>
              <a:rPr lang="en-US" sz="2797">
                <a:solidFill>
                  <a:srgbClr val="000000"/>
                </a:solidFill>
                <a:latin typeface="Garet"/>
                <a:ea typeface="Garet"/>
                <a:cs typeface="Garet"/>
                <a:sym typeface="Garet"/>
              </a:rPr>
              <a:t>Generates separate heatmaps for each thoracic disease.</a:t>
            </a:r>
          </a:p>
          <a:p>
            <a:pPr algn="l">
              <a:lnSpc>
                <a:spcPts val="3636"/>
              </a:lnSpc>
              <a:spcBef>
                <a:spcPct val="0"/>
              </a:spcBef>
            </a:pPr>
          </a:p>
          <a:p>
            <a:pPr algn="l">
              <a:lnSpc>
                <a:spcPts val="3636"/>
              </a:lnSpc>
              <a:spcBef>
                <a:spcPct val="0"/>
              </a:spcBef>
            </a:pPr>
            <a:r>
              <a:rPr lang="en-US" b="true" sz="2797">
                <a:solidFill>
                  <a:srgbClr val="000000"/>
                </a:solidFill>
                <a:latin typeface="Garet Bold"/>
                <a:ea typeface="Garet Bold"/>
                <a:cs typeface="Garet Bold"/>
                <a:sym typeface="Garet Bold"/>
              </a:rPr>
              <a:t>• </a:t>
            </a:r>
            <a:r>
              <a:rPr lang="en-US" sz="2797">
                <a:solidFill>
                  <a:srgbClr val="000000"/>
                </a:solidFill>
                <a:latin typeface="Garet"/>
                <a:ea typeface="Garet"/>
                <a:cs typeface="Garet"/>
                <a:sym typeface="Garet"/>
              </a:rPr>
              <a:t>Works well with CBAM.</a:t>
            </a:r>
          </a:p>
          <a:p>
            <a:pPr algn="l">
              <a:lnSpc>
                <a:spcPts val="3636"/>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6874457" y="1719220"/>
            <a:ext cx="5330186" cy="6019717"/>
          </a:xfrm>
          <a:custGeom>
            <a:avLst/>
            <a:gdLst/>
            <a:ahLst/>
            <a:cxnLst/>
            <a:rect r="r" b="b" t="t" l="l"/>
            <a:pathLst>
              <a:path h="6019717" w="5330186">
                <a:moveTo>
                  <a:pt x="0" y="0"/>
                </a:moveTo>
                <a:lnTo>
                  <a:pt x="5330186" y="0"/>
                </a:lnTo>
                <a:lnTo>
                  <a:pt x="5330186" y="6019717"/>
                </a:lnTo>
                <a:lnTo>
                  <a:pt x="0" y="6019717"/>
                </a:lnTo>
                <a:lnTo>
                  <a:pt x="0" y="0"/>
                </a:lnTo>
                <a:close/>
              </a:path>
            </a:pathLst>
          </a:custGeom>
          <a:blipFill>
            <a:blip r:embed="rId3"/>
            <a:stretch>
              <a:fillRect l="0" t="0" r="0" b="0"/>
            </a:stretch>
          </a:blipFill>
        </p:spPr>
      </p:sp>
      <p:sp>
        <p:nvSpPr>
          <p:cNvPr name="Freeform 6" id="6"/>
          <p:cNvSpPr/>
          <p:nvPr/>
        </p:nvSpPr>
        <p:spPr>
          <a:xfrm flipH="false" flipV="false" rot="0">
            <a:off x="12204643" y="1719220"/>
            <a:ext cx="5863082" cy="6019717"/>
          </a:xfrm>
          <a:custGeom>
            <a:avLst/>
            <a:gdLst/>
            <a:ahLst/>
            <a:cxnLst/>
            <a:rect r="r" b="b" t="t" l="l"/>
            <a:pathLst>
              <a:path h="6019717" w="5863082">
                <a:moveTo>
                  <a:pt x="0" y="0"/>
                </a:moveTo>
                <a:lnTo>
                  <a:pt x="5863083" y="0"/>
                </a:lnTo>
                <a:lnTo>
                  <a:pt x="5863083" y="6019717"/>
                </a:lnTo>
                <a:lnTo>
                  <a:pt x="0" y="6019717"/>
                </a:lnTo>
                <a:lnTo>
                  <a:pt x="0" y="0"/>
                </a:lnTo>
                <a:close/>
              </a:path>
            </a:pathLst>
          </a:custGeom>
          <a:blipFill>
            <a:blip r:embed="rId4"/>
            <a:stretch>
              <a:fillRect l="-1335" t="0" r="-1335" b="0"/>
            </a:stretch>
          </a:blipFill>
        </p:spPr>
      </p:sp>
      <p:sp>
        <p:nvSpPr>
          <p:cNvPr name="TextBox 7" id="7"/>
          <p:cNvSpPr txBox="true"/>
          <p:nvPr/>
        </p:nvSpPr>
        <p:spPr>
          <a:xfrm rot="0">
            <a:off x="651881" y="505972"/>
            <a:ext cx="14393204" cy="1360805"/>
          </a:xfrm>
          <a:prstGeom prst="rect">
            <a:avLst/>
          </a:prstGeom>
        </p:spPr>
        <p:txBody>
          <a:bodyPr anchor="t" rtlCol="false" tIns="0" lIns="0" bIns="0" rIns="0">
            <a:spAutoFit/>
          </a:bodyPr>
          <a:lstStyle/>
          <a:p>
            <a:pPr algn="l">
              <a:lnSpc>
                <a:spcPts val="5199"/>
              </a:lnSpc>
            </a:pPr>
            <a:r>
              <a:rPr lang="en-US" sz="5199" spc="-410">
                <a:solidFill>
                  <a:srgbClr val="000000"/>
                </a:solidFill>
                <a:latin typeface="Archivo Black"/>
                <a:ea typeface="Archivo Black"/>
                <a:cs typeface="Archivo Black"/>
                <a:sym typeface="Archivo Black"/>
              </a:rPr>
              <a:t>Contour Generation Using GRAD-CAM++ </a:t>
            </a:r>
          </a:p>
          <a:p>
            <a:pPr algn="l">
              <a:lnSpc>
                <a:spcPts val="5199"/>
              </a:lnSpc>
            </a:pPr>
          </a:p>
        </p:txBody>
      </p:sp>
      <p:sp>
        <p:nvSpPr>
          <p:cNvPr name="TextBox 8" id="8"/>
          <p:cNvSpPr txBox="true"/>
          <p:nvPr/>
        </p:nvSpPr>
        <p:spPr>
          <a:xfrm rot="0">
            <a:off x="383516" y="1820228"/>
            <a:ext cx="5638123" cy="6627495"/>
          </a:xfrm>
          <a:prstGeom prst="rect">
            <a:avLst/>
          </a:prstGeom>
        </p:spPr>
        <p:txBody>
          <a:bodyPr anchor="t" rtlCol="false" tIns="0" lIns="0" bIns="0" rIns="0">
            <a:spAutoFit/>
          </a:bodyPr>
          <a:lstStyle/>
          <a:p>
            <a:pPr algn="l">
              <a:lnSpc>
                <a:spcPts val="3120"/>
              </a:lnSpc>
              <a:spcBef>
                <a:spcPct val="0"/>
              </a:spcBef>
            </a:pPr>
            <a:r>
              <a:rPr lang="en-US" b="true" sz="2400">
                <a:solidFill>
                  <a:srgbClr val="000000"/>
                </a:solidFill>
                <a:latin typeface="Garet Bold"/>
                <a:ea typeface="Garet Bold"/>
                <a:cs typeface="Garet Bold"/>
                <a:sym typeface="Garet Bold"/>
              </a:rPr>
              <a:t>• </a:t>
            </a:r>
            <a:r>
              <a:rPr lang="en-US" sz="2400">
                <a:solidFill>
                  <a:srgbClr val="000000"/>
                </a:solidFill>
                <a:latin typeface="Garet"/>
                <a:ea typeface="Garet"/>
                <a:cs typeface="Garet"/>
                <a:sym typeface="Garet"/>
              </a:rPr>
              <a:t>Uses the heatmaps generated  for image processing to generate hollow contours.</a:t>
            </a:r>
          </a:p>
          <a:p>
            <a:pPr algn="l">
              <a:lnSpc>
                <a:spcPts val="3120"/>
              </a:lnSpc>
              <a:spcBef>
                <a:spcPct val="0"/>
              </a:spcBef>
            </a:pPr>
          </a:p>
          <a:p>
            <a:pPr algn="l">
              <a:lnSpc>
                <a:spcPts val="3120"/>
              </a:lnSpc>
              <a:spcBef>
                <a:spcPct val="0"/>
              </a:spcBef>
            </a:pPr>
            <a:r>
              <a:rPr lang="en-US" b="true" sz="2400">
                <a:solidFill>
                  <a:srgbClr val="000000"/>
                </a:solidFill>
                <a:latin typeface="Garet Bold"/>
                <a:ea typeface="Garet Bold"/>
                <a:cs typeface="Garet Bold"/>
                <a:sym typeface="Garet Bold"/>
              </a:rPr>
              <a:t>• </a:t>
            </a:r>
            <a:r>
              <a:rPr lang="en-US" sz="2400">
                <a:solidFill>
                  <a:srgbClr val="000000"/>
                </a:solidFill>
                <a:latin typeface="Garet"/>
                <a:ea typeface="Garet"/>
                <a:cs typeface="Garet"/>
                <a:sym typeface="Garet"/>
              </a:rPr>
              <a:t>Different illnesses can be visualized at the same time thanks to GRAD-CAM++.</a:t>
            </a:r>
          </a:p>
          <a:p>
            <a:pPr algn="l">
              <a:lnSpc>
                <a:spcPts val="3120"/>
              </a:lnSpc>
              <a:spcBef>
                <a:spcPct val="0"/>
              </a:spcBef>
            </a:pPr>
          </a:p>
          <a:p>
            <a:pPr algn="l">
              <a:lnSpc>
                <a:spcPts val="3120"/>
              </a:lnSpc>
              <a:spcBef>
                <a:spcPct val="0"/>
              </a:spcBef>
            </a:pPr>
            <a:r>
              <a:rPr lang="en-US" b="true" sz="2400">
                <a:solidFill>
                  <a:srgbClr val="000000"/>
                </a:solidFill>
                <a:latin typeface="Garet Bold"/>
                <a:ea typeface="Garet Bold"/>
                <a:cs typeface="Garet Bold"/>
                <a:sym typeface="Garet Bold"/>
              </a:rPr>
              <a:t>• </a:t>
            </a:r>
            <a:r>
              <a:rPr lang="en-US" sz="2400">
                <a:solidFill>
                  <a:srgbClr val="000000"/>
                </a:solidFill>
                <a:latin typeface="Garet"/>
                <a:ea typeface="Garet"/>
                <a:cs typeface="Garet"/>
                <a:sym typeface="Garet"/>
              </a:rPr>
              <a:t>Utilizes the threshold values obtained during training.</a:t>
            </a:r>
          </a:p>
          <a:p>
            <a:pPr algn="l">
              <a:lnSpc>
                <a:spcPts val="3120"/>
              </a:lnSpc>
              <a:spcBef>
                <a:spcPct val="0"/>
              </a:spcBef>
            </a:pPr>
            <a:r>
              <a:rPr lang="en-US" b="true" sz="2400">
                <a:solidFill>
                  <a:srgbClr val="000000"/>
                </a:solidFill>
                <a:latin typeface="Garet Bold"/>
                <a:ea typeface="Garet Bold"/>
                <a:cs typeface="Garet Bold"/>
                <a:sym typeface="Garet Bold"/>
              </a:rPr>
              <a:t> </a:t>
            </a:r>
          </a:p>
          <a:p>
            <a:pPr algn="l">
              <a:lnSpc>
                <a:spcPts val="3120"/>
              </a:lnSpc>
              <a:spcBef>
                <a:spcPct val="0"/>
              </a:spcBef>
            </a:pPr>
            <a:r>
              <a:rPr lang="en-US" b="true" sz="2400">
                <a:solidFill>
                  <a:srgbClr val="000000"/>
                </a:solidFill>
                <a:latin typeface="Garet Bold"/>
                <a:ea typeface="Garet Bold"/>
                <a:cs typeface="Garet Bold"/>
                <a:sym typeface="Garet Bold"/>
              </a:rPr>
              <a:t>• </a:t>
            </a:r>
            <a:r>
              <a:rPr lang="en-US" sz="2400">
                <a:solidFill>
                  <a:srgbClr val="000000"/>
                </a:solidFill>
                <a:latin typeface="Garet"/>
                <a:ea typeface="Garet"/>
                <a:cs typeface="Garet"/>
                <a:sym typeface="Garet"/>
              </a:rPr>
              <a:t>Allows for easier understandablitiy than standard GRAD-CAM++.</a:t>
            </a:r>
          </a:p>
          <a:p>
            <a:pPr algn="l">
              <a:lnSpc>
                <a:spcPts val="3120"/>
              </a:lnSpc>
              <a:spcBef>
                <a:spcPct val="0"/>
              </a:spcBef>
            </a:pPr>
          </a:p>
          <a:p>
            <a:pPr algn="l">
              <a:lnSpc>
                <a:spcPts val="3120"/>
              </a:lnSpc>
              <a:spcBef>
                <a:spcPct val="0"/>
              </a:spcBef>
            </a:pPr>
          </a:p>
          <a:p>
            <a:pPr algn="l">
              <a:lnSpc>
                <a:spcPts val="3120"/>
              </a:lnSpc>
              <a:spcBef>
                <a:spcPct val="0"/>
              </a:spcBef>
            </a:pPr>
          </a:p>
          <a:p>
            <a:pPr algn="l">
              <a:lnSpc>
                <a:spcPts val="3120"/>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873289"/>
            <a:ext cx="918698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Trained Models: Model 1</a:t>
            </a:r>
          </a:p>
        </p:txBody>
      </p:sp>
      <p:sp>
        <p:nvSpPr>
          <p:cNvPr name="TextBox 6" id="6"/>
          <p:cNvSpPr txBox="true"/>
          <p:nvPr/>
        </p:nvSpPr>
        <p:spPr>
          <a:xfrm rot="0">
            <a:off x="1261443" y="3123486"/>
            <a:ext cx="15132425" cy="4114800"/>
          </a:xfrm>
          <a:prstGeom prst="rect">
            <a:avLst/>
          </a:prstGeom>
        </p:spPr>
        <p:txBody>
          <a:bodyPr anchor="t" rtlCol="false" tIns="0" lIns="0" bIns="0" rIns="0">
            <a:spAutoFit/>
          </a:bodyPr>
          <a:lstStyle/>
          <a:p>
            <a:pPr algn="l">
              <a:lnSpc>
                <a:spcPts val="3359"/>
              </a:lnSpc>
            </a:pPr>
            <a:r>
              <a:rPr lang="en-US" sz="2399" b="true">
                <a:solidFill>
                  <a:srgbClr val="000000"/>
                </a:solidFill>
                <a:latin typeface="Garet Bold"/>
                <a:ea typeface="Garet Bold"/>
                <a:cs typeface="Garet Bold"/>
                <a:sym typeface="Garet Bold"/>
              </a:rPr>
              <a:t>Configuration:</a:t>
            </a:r>
          </a:p>
          <a:p>
            <a:pPr algn="l" marL="453388" indent="-226694" lvl="1">
              <a:lnSpc>
                <a:spcPts val="2939"/>
              </a:lnSpc>
              <a:buFont typeface="Arial"/>
              <a:buChar char="•"/>
            </a:pPr>
            <a:r>
              <a:rPr lang="en-US" sz="2099">
                <a:solidFill>
                  <a:srgbClr val="000000"/>
                </a:solidFill>
                <a:latin typeface="Garet"/>
                <a:ea typeface="Garet"/>
                <a:cs typeface="Garet"/>
                <a:sym typeface="Garet"/>
              </a:rPr>
              <a:t>Architecture: DenseNet-121.</a:t>
            </a:r>
          </a:p>
          <a:p>
            <a:pPr algn="l" marL="453388" indent="-226694" lvl="1">
              <a:lnSpc>
                <a:spcPts val="2939"/>
              </a:lnSpc>
              <a:buFont typeface="Arial"/>
              <a:buChar char="•"/>
            </a:pPr>
            <a:r>
              <a:rPr lang="en-US" sz="2099">
                <a:solidFill>
                  <a:srgbClr val="000000"/>
                </a:solidFill>
                <a:latin typeface="Garet"/>
                <a:ea typeface="Garet"/>
                <a:cs typeface="Garet"/>
                <a:sym typeface="Garet"/>
              </a:rPr>
              <a:t>Loss Function: Binary Cross-Entropy (BCE).</a:t>
            </a:r>
          </a:p>
          <a:p>
            <a:pPr algn="l" marL="453388" indent="-226694" lvl="1">
              <a:lnSpc>
                <a:spcPts val="2939"/>
              </a:lnSpc>
              <a:buFont typeface="Arial"/>
              <a:buChar char="•"/>
            </a:pPr>
            <a:r>
              <a:rPr lang="en-US" sz="2099">
                <a:solidFill>
                  <a:srgbClr val="000000"/>
                </a:solidFill>
                <a:latin typeface="Garet"/>
                <a:ea typeface="Garet"/>
                <a:cs typeface="Garet"/>
                <a:sym typeface="Garet"/>
              </a:rPr>
              <a:t>Dataset: Raw Images.</a:t>
            </a:r>
          </a:p>
          <a:p>
            <a:pPr algn="l" marL="453388" indent="-226694" lvl="1">
              <a:lnSpc>
                <a:spcPts val="2939"/>
              </a:lnSpc>
              <a:buFont typeface="Arial"/>
              <a:buChar char="•"/>
            </a:pPr>
            <a:r>
              <a:rPr lang="en-US" sz="2099">
                <a:solidFill>
                  <a:srgbClr val="000000"/>
                </a:solidFill>
                <a:latin typeface="Garet"/>
                <a:ea typeface="Garet"/>
                <a:cs typeface="Garet"/>
                <a:sym typeface="Garet"/>
              </a:rPr>
              <a:t>Thresholding: Static (0.50) for all classes.</a:t>
            </a:r>
          </a:p>
          <a:p>
            <a:pPr algn="l" marL="453388" indent="-226694" lvl="1">
              <a:lnSpc>
                <a:spcPts val="2939"/>
              </a:lnSpc>
              <a:buFont typeface="Arial"/>
              <a:buChar char="•"/>
            </a:pPr>
            <a:r>
              <a:rPr lang="en-US" sz="2099">
                <a:solidFill>
                  <a:srgbClr val="000000"/>
                </a:solidFill>
                <a:latin typeface="Garet"/>
                <a:ea typeface="Garet"/>
                <a:cs typeface="Garet"/>
                <a:sym typeface="Garet"/>
              </a:rPr>
              <a:t>Learning Rate / Epoch: 1e−4 / 15</a:t>
            </a:r>
          </a:p>
          <a:p>
            <a:pPr algn="l">
              <a:lnSpc>
                <a:spcPts val="2939"/>
              </a:lnSpc>
            </a:pPr>
            <a:r>
              <a:rPr lang="en-US" sz="2099" b="true">
                <a:solidFill>
                  <a:srgbClr val="000000"/>
                </a:solidFill>
                <a:latin typeface="Garet Bold"/>
                <a:ea typeface="Garet Bold"/>
                <a:cs typeface="Garet Bold"/>
                <a:sym typeface="Garet Bold"/>
              </a:rPr>
              <a:t>Observation:</a:t>
            </a:r>
          </a:p>
          <a:p>
            <a:pPr algn="l" marL="453388" indent="-226694" lvl="1">
              <a:lnSpc>
                <a:spcPts val="2939"/>
              </a:lnSpc>
              <a:buFont typeface="Arial"/>
              <a:buChar char="•"/>
            </a:pPr>
            <a:r>
              <a:rPr lang="en-US" sz="2099">
                <a:solidFill>
                  <a:srgbClr val="000000"/>
                </a:solidFill>
                <a:latin typeface="Garet"/>
                <a:ea typeface="Garet"/>
                <a:cs typeface="Garet"/>
                <a:sym typeface="Garet"/>
              </a:rPr>
              <a:t>The model is</a:t>
            </a:r>
            <a:r>
              <a:rPr lang="en-US" sz="2099">
                <a:solidFill>
                  <a:srgbClr val="000000"/>
                </a:solidFill>
                <a:latin typeface="Garet"/>
                <a:ea typeface="Garet"/>
                <a:cs typeface="Garet"/>
                <a:sym typeface="Garet"/>
              </a:rPr>
              <a:t> biased toward the negative class, leading to high accuracy but poor sensitivity to diseases.</a:t>
            </a:r>
          </a:p>
          <a:p>
            <a:pPr algn="l" marL="453388" indent="-226694" lvl="1">
              <a:lnSpc>
                <a:spcPts val="2939"/>
              </a:lnSpc>
              <a:buFont typeface="Arial"/>
              <a:buChar char="•"/>
            </a:pPr>
            <a:r>
              <a:rPr lang="en-US" sz="2099">
                <a:solidFill>
                  <a:srgbClr val="000000"/>
                </a:solidFill>
                <a:latin typeface="Garet"/>
                <a:ea typeface="Garet"/>
                <a:cs typeface="Garet"/>
                <a:sym typeface="Garet"/>
              </a:rPr>
              <a:t>Low Macro F1 (0.27) confirms the model struggles to detect rare pathologies.</a:t>
            </a:r>
          </a:p>
          <a:p>
            <a:pPr algn="l" marL="453388" indent="-226694" lvl="1">
              <a:lnSpc>
                <a:spcPts val="2939"/>
              </a:lnSpc>
              <a:spcBef>
                <a:spcPct val="0"/>
              </a:spcBef>
              <a:buFont typeface="Arial"/>
              <a:buChar char="•"/>
            </a:pPr>
            <a:r>
              <a:rPr lang="en-US" sz="2099">
                <a:solidFill>
                  <a:srgbClr val="000000"/>
                </a:solidFill>
                <a:latin typeface="Garet"/>
                <a:ea typeface="Garet"/>
                <a:cs typeface="Garet"/>
                <a:sym typeface="Garet"/>
              </a:rPr>
              <a:t>Rationale: This baseline highlights the limitations of standard BCE in handling class imbalance, justifying the move to advanced loss functions.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873289"/>
            <a:ext cx="918698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Trained Models: Model 2</a:t>
            </a:r>
          </a:p>
        </p:txBody>
      </p:sp>
      <p:sp>
        <p:nvSpPr>
          <p:cNvPr name="TextBox 6" id="6"/>
          <p:cNvSpPr txBox="true"/>
          <p:nvPr/>
        </p:nvSpPr>
        <p:spPr>
          <a:xfrm rot="0">
            <a:off x="1196792" y="3121010"/>
            <a:ext cx="15688422" cy="4533900"/>
          </a:xfrm>
          <a:prstGeom prst="rect">
            <a:avLst/>
          </a:prstGeom>
        </p:spPr>
        <p:txBody>
          <a:bodyPr anchor="t" rtlCol="false" tIns="0" lIns="0" bIns="0" rIns="0">
            <a:spAutoFit/>
          </a:bodyPr>
          <a:lstStyle/>
          <a:p>
            <a:pPr algn="l">
              <a:lnSpc>
                <a:spcPts val="3359"/>
              </a:lnSpc>
            </a:pPr>
            <a:r>
              <a:rPr lang="en-US" sz="2399" b="true">
                <a:solidFill>
                  <a:srgbClr val="000000"/>
                </a:solidFill>
                <a:latin typeface="Garet Bold"/>
                <a:ea typeface="Garet Bold"/>
                <a:cs typeface="Garet Bold"/>
                <a:sym typeface="Garet Bold"/>
              </a:rPr>
              <a:t>Configuration:</a:t>
            </a:r>
          </a:p>
          <a:p>
            <a:pPr algn="l" marL="453388" indent="-226694" lvl="1">
              <a:lnSpc>
                <a:spcPts val="2939"/>
              </a:lnSpc>
              <a:buFont typeface="Arial"/>
              <a:buChar char="•"/>
            </a:pPr>
            <a:r>
              <a:rPr lang="en-US" sz="2099">
                <a:solidFill>
                  <a:srgbClr val="000000"/>
                </a:solidFill>
                <a:latin typeface="Garet"/>
                <a:ea typeface="Garet"/>
                <a:cs typeface="Garet"/>
                <a:sym typeface="Garet"/>
              </a:rPr>
              <a:t>Architecture: DenseNet-121.</a:t>
            </a:r>
          </a:p>
          <a:p>
            <a:pPr algn="l" marL="453388" indent="-226694" lvl="1">
              <a:lnSpc>
                <a:spcPts val="2939"/>
              </a:lnSpc>
              <a:buFont typeface="Arial"/>
              <a:buChar char="•"/>
            </a:pPr>
            <a:r>
              <a:rPr lang="en-US" sz="2099">
                <a:solidFill>
                  <a:srgbClr val="000000"/>
                </a:solidFill>
                <a:latin typeface="Garet"/>
                <a:ea typeface="Garet"/>
                <a:cs typeface="Garet"/>
                <a:sym typeface="Garet"/>
              </a:rPr>
              <a:t>Loss Function: Asymmetric Loss (ASL).</a:t>
            </a:r>
          </a:p>
          <a:p>
            <a:pPr algn="l" marL="453388" indent="-226694" lvl="1">
              <a:lnSpc>
                <a:spcPts val="2939"/>
              </a:lnSpc>
              <a:buFont typeface="Arial"/>
              <a:buChar char="•"/>
            </a:pPr>
            <a:r>
              <a:rPr lang="en-US" sz="2099">
                <a:solidFill>
                  <a:srgbClr val="000000"/>
                </a:solidFill>
                <a:latin typeface="Garet"/>
                <a:ea typeface="Garet"/>
                <a:cs typeface="Garet"/>
                <a:sym typeface="Garet"/>
              </a:rPr>
              <a:t>Dataset: Raw Images.</a:t>
            </a:r>
          </a:p>
          <a:p>
            <a:pPr algn="l" marL="453388" indent="-226694" lvl="1">
              <a:lnSpc>
                <a:spcPts val="2939"/>
              </a:lnSpc>
              <a:buFont typeface="Arial"/>
              <a:buChar char="•"/>
            </a:pPr>
            <a:r>
              <a:rPr lang="en-US" sz="2099">
                <a:solidFill>
                  <a:srgbClr val="000000"/>
                </a:solidFill>
                <a:latin typeface="Garet"/>
                <a:ea typeface="Garet"/>
                <a:cs typeface="Garet"/>
                <a:sym typeface="Garet"/>
              </a:rPr>
              <a:t>Thresholding: Static (0.50) for all classes.</a:t>
            </a:r>
          </a:p>
          <a:p>
            <a:pPr algn="l" marL="453388" indent="-226694" lvl="1">
              <a:lnSpc>
                <a:spcPts val="2939"/>
              </a:lnSpc>
              <a:buFont typeface="Arial"/>
              <a:buChar char="•"/>
            </a:pPr>
            <a:r>
              <a:rPr lang="en-US" sz="2099">
                <a:solidFill>
                  <a:srgbClr val="000000"/>
                </a:solidFill>
                <a:latin typeface="Garet"/>
                <a:ea typeface="Garet"/>
                <a:cs typeface="Garet"/>
                <a:sym typeface="Garet"/>
              </a:rPr>
              <a:t>Learning Rate / Epoch: 1e−4 / 15</a:t>
            </a:r>
          </a:p>
          <a:p>
            <a:pPr algn="l">
              <a:lnSpc>
                <a:spcPts val="3359"/>
              </a:lnSpc>
            </a:pPr>
            <a:r>
              <a:rPr lang="en-US" sz="2399" b="true">
                <a:solidFill>
                  <a:srgbClr val="000000"/>
                </a:solidFill>
                <a:latin typeface="Garet Bold"/>
                <a:ea typeface="Garet Bold"/>
                <a:cs typeface="Garet Bold"/>
                <a:sym typeface="Garet Bold"/>
              </a:rPr>
              <a:t>Observation:</a:t>
            </a:r>
          </a:p>
          <a:p>
            <a:pPr algn="l" marL="453388" indent="-226694" lvl="1">
              <a:lnSpc>
                <a:spcPts val="2939"/>
              </a:lnSpc>
              <a:buFont typeface="Arial"/>
              <a:buChar char="•"/>
            </a:pPr>
            <a:r>
              <a:rPr lang="en-US" sz="2099">
                <a:solidFill>
                  <a:srgbClr val="000000"/>
                </a:solidFill>
                <a:latin typeface="Garet"/>
                <a:ea typeface="Garet"/>
                <a:cs typeface="Garet"/>
                <a:sym typeface="Garet"/>
              </a:rPr>
              <a:t>The model stop</a:t>
            </a:r>
            <a:r>
              <a:rPr lang="en-US" sz="2099">
                <a:solidFill>
                  <a:srgbClr val="000000"/>
                </a:solidFill>
                <a:latin typeface="Garet"/>
                <a:ea typeface="Garet"/>
                <a:cs typeface="Garet"/>
                <a:sym typeface="Garet"/>
              </a:rPr>
              <a:t>s focusing only on Healthy cases and starts identifying disease markers.</a:t>
            </a:r>
          </a:p>
          <a:p>
            <a:pPr algn="l" marL="453388" indent="-226694" lvl="1">
              <a:lnSpc>
                <a:spcPts val="2939"/>
              </a:lnSpc>
              <a:buFont typeface="Arial"/>
              <a:buChar char="•"/>
            </a:pPr>
            <a:r>
              <a:rPr lang="en-US" sz="2099">
                <a:solidFill>
                  <a:srgbClr val="000000"/>
                </a:solidFill>
                <a:latin typeface="Garet"/>
                <a:ea typeface="Garet"/>
                <a:cs typeface="Garet"/>
                <a:sym typeface="Garet"/>
              </a:rPr>
              <a:t>Rare disease detection is improved, increasing Macro F1 to 0.34.</a:t>
            </a:r>
          </a:p>
          <a:p>
            <a:pPr algn="l" marL="453388" indent="-226694" lvl="1">
              <a:lnSpc>
                <a:spcPts val="2939"/>
              </a:lnSpc>
              <a:spcBef>
                <a:spcPct val="0"/>
              </a:spcBef>
              <a:buFont typeface="Arial"/>
              <a:buChar char="•"/>
            </a:pPr>
            <a:r>
              <a:rPr lang="en-US" sz="2099">
                <a:solidFill>
                  <a:srgbClr val="000000"/>
                </a:solidFill>
                <a:latin typeface="Garet"/>
                <a:ea typeface="Garet"/>
                <a:cs typeface="Garet"/>
                <a:sym typeface="Garet"/>
              </a:rPr>
              <a:t>Rationale: Using ASL prevents the model from ignoring rare pathologies, solving the main issue of the baseline model.</a:t>
            </a:r>
          </a:p>
          <a:p>
            <a:pPr algn="l">
              <a:lnSpc>
                <a:spcPts val="2939"/>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873289"/>
            <a:ext cx="9186985"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Trained Models: Model 3</a:t>
            </a:r>
          </a:p>
        </p:txBody>
      </p:sp>
      <p:sp>
        <p:nvSpPr>
          <p:cNvPr name="TextBox 6" id="6"/>
          <p:cNvSpPr txBox="true"/>
          <p:nvPr/>
        </p:nvSpPr>
        <p:spPr>
          <a:xfrm rot="0">
            <a:off x="1196792" y="3121010"/>
            <a:ext cx="15688422" cy="4533900"/>
          </a:xfrm>
          <a:prstGeom prst="rect">
            <a:avLst/>
          </a:prstGeom>
        </p:spPr>
        <p:txBody>
          <a:bodyPr anchor="t" rtlCol="false" tIns="0" lIns="0" bIns="0" rIns="0">
            <a:spAutoFit/>
          </a:bodyPr>
          <a:lstStyle/>
          <a:p>
            <a:pPr algn="l">
              <a:lnSpc>
                <a:spcPts val="3359"/>
              </a:lnSpc>
            </a:pPr>
            <a:r>
              <a:rPr lang="en-US" sz="2399" b="true">
                <a:solidFill>
                  <a:srgbClr val="000000"/>
                </a:solidFill>
                <a:latin typeface="Garet Bold"/>
                <a:ea typeface="Garet Bold"/>
                <a:cs typeface="Garet Bold"/>
                <a:sym typeface="Garet Bold"/>
              </a:rPr>
              <a:t>Configuration:</a:t>
            </a:r>
          </a:p>
          <a:p>
            <a:pPr algn="l" marL="453390" indent="-226695" lvl="1">
              <a:lnSpc>
                <a:spcPts val="2940"/>
              </a:lnSpc>
              <a:buFont typeface="Arial"/>
              <a:buChar char="•"/>
            </a:pPr>
            <a:r>
              <a:rPr lang="en-US" sz="2100">
                <a:solidFill>
                  <a:srgbClr val="000000"/>
                </a:solidFill>
                <a:latin typeface="Garet"/>
                <a:ea typeface="Garet"/>
                <a:cs typeface="Garet"/>
                <a:sym typeface="Garet"/>
              </a:rPr>
              <a:t>Architecture: DenseNet-121.</a:t>
            </a:r>
          </a:p>
          <a:p>
            <a:pPr algn="l" marL="453390" indent="-226695" lvl="1">
              <a:lnSpc>
                <a:spcPts val="2940"/>
              </a:lnSpc>
              <a:buFont typeface="Arial"/>
              <a:buChar char="•"/>
            </a:pPr>
            <a:r>
              <a:rPr lang="en-US" sz="2100">
                <a:solidFill>
                  <a:srgbClr val="000000"/>
                </a:solidFill>
                <a:latin typeface="Garet"/>
                <a:ea typeface="Garet"/>
                <a:cs typeface="Garet"/>
                <a:sym typeface="Garet"/>
              </a:rPr>
              <a:t>Loss Function: Asymmetric Loss (ASL).</a:t>
            </a:r>
          </a:p>
          <a:p>
            <a:pPr algn="l" marL="453390" indent="-226695" lvl="1">
              <a:lnSpc>
                <a:spcPts val="2940"/>
              </a:lnSpc>
              <a:buFont typeface="Arial"/>
              <a:buChar char="•"/>
            </a:pPr>
            <a:r>
              <a:rPr lang="en-US" sz="2100">
                <a:solidFill>
                  <a:srgbClr val="000000"/>
                </a:solidFill>
                <a:latin typeface="Garet"/>
                <a:ea typeface="Garet"/>
                <a:cs typeface="Garet"/>
                <a:sym typeface="Garet"/>
              </a:rPr>
              <a:t>Dataset: CLAHE + Gamma Corrected Images.</a:t>
            </a:r>
          </a:p>
          <a:p>
            <a:pPr algn="l" marL="453390" indent="-226695" lvl="1">
              <a:lnSpc>
                <a:spcPts val="2940"/>
              </a:lnSpc>
              <a:buFont typeface="Arial"/>
              <a:buChar char="•"/>
            </a:pPr>
            <a:r>
              <a:rPr lang="en-US" sz="2100">
                <a:solidFill>
                  <a:srgbClr val="000000"/>
                </a:solidFill>
                <a:latin typeface="Garet"/>
                <a:ea typeface="Garet"/>
                <a:cs typeface="Garet"/>
                <a:sym typeface="Garet"/>
              </a:rPr>
              <a:t>Thresholding: Static (0.50) for all classes.</a:t>
            </a:r>
          </a:p>
          <a:p>
            <a:pPr algn="l" marL="453390" indent="-226695" lvl="1">
              <a:lnSpc>
                <a:spcPts val="2940"/>
              </a:lnSpc>
              <a:buFont typeface="Arial"/>
              <a:buChar char="•"/>
            </a:pPr>
            <a:r>
              <a:rPr lang="en-US" sz="2100">
                <a:solidFill>
                  <a:srgbClr val="000000"/>
                </a:solidFill>
                <a:latin typeface="Garet"/>
                <a:ea typeface="Garet"/>
                <a:cs typeface="Garet"/>
                <a:sym typeface="Garet"/>
              </a:rPr>
              <a:t>Learning Rate / Epoch: 1e−4 / 15</a:t>
            </a:r>
          </a:p>
          <a:p>
            <a:pPr algn="l">
              <a:lnSpc>
                <a:spcPts val="3359"/>
              </a:lnSpc>
            </a:pPr>
            <a:r>
              <a:rPr lang="en-US" sz="2399" b="true">
                <a:solidFill>
                  <a:srgbClr val="000000"/>
                </a:solidFill>
                <a:latin typeface="Garet Bold"/>
                <a:ea typeface="Garet Bold"/>
                <a:cs typeface="Garet Bold"/>
                <a:sym typeface="Garet Bold"/>
              </a:rPr>
              <a:t>Observation:</a:t>
            </a:r>
          </a:p>
          <a:p>
            <a:pPr algn="l" marL="453390" indent="-226695" lvl="1">
              <a:lnSpc>
                <a:spcPts val="2940"/>
              </a:lnSpc>
              <a:buFont typeface="Arial"/>
              <a:buChar char="•"/>
            </a:pPr>
            <a:r>
              <a:rPr lang="en-US" sz="2100">
                <a:solidFill>
                  <a:srgbClr val="000000"/>
                </a:solidFill>
                <a:latin typeface="Garet"/>
                <a:ea typeface="Garet"/>
                <a:cs typeface="Garet"/>
                <a:sym typeface="Garet"/>
              </a:rPr>
              <a:t>Image enhancement was used to make subtle features clearer for the model.</a:t>
            </a:r>
          </a:p>
          <a:p>
            <a:pPr algn="l" marL="453390" indent="-226695" lvl="1">
              <a:lnSpc>
                <a:spcPts val="2940"/>
              </a:lnSpc>
              <a:buFont typeface="Arial"/>
              <a:buChar char="•"/>
            </a:pPr>
            <a:r>
              <a:rPr lang="en-US" sz="2100">
                <a:solidFill>
                  <a:srgbClr val="000000"/>
                </a:solidFill>
                <a:latin typeface="Garet"/>
                <a:ea typeface="Garet"/>
                <a:cs typeface="Garet"/>
                <a:sym typeface="Garet"/>
              </a:rPr>
              <a:t>Macro F1 dropped to 0.32.</a:t>
            </a:r>
          </a:p>
          <a:p>
            <a:pPr algn="l" marL="453390" indent="-226695" lvl="1">
              <a:lnSpc>
                <a:spcPts val="2940"/>
              </a:lnSpc>
              <a:spcBef>
                <a:spcPct val="0"/>
              </a:spcBef>
              <a:buFont typeface="Arial"/>
              <a:buChar char="•"/>
            </a:pPr>
            <a:r>
              <a:rPr lang="en-US" sz="2100">
                <a:solidFill>
                  <a:srgbClr val="000000"/>
                </a:solidFill>
                <a:latin typeface="Garet"/>
                <a:ea typeface="Garet"/>
                <a:cs typeface="Garet"/>
                <a:sym typeface="Garet"/>
              </a:rPr>
              <a:t>Rationale: Heavy enhancements introduced artifacts that distracted the model, proving that raw images provide more reliable features for this architecture.</a:t>
            </a:r>
          </a:p>
          <a:p>
            <a:pPr algn="l">
              <a:lnSpc>
                <a:spcPts val="294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873289"/>
            <a:ext cx="17048528" cy="78570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Trained Models: Model 4 (Final Optimized Model)</a:t>
            </a:r>
          </a:p>
        </p:txBody>
      </p:sp>
      <p:sp>
        <p:nvSpPr>
          <p:cNvPr name="TextBox 6" id="6"/>
          <p:cNvSpPr txBox="true"/>
          <p:nvPr/>
        </p:nvSpPr>
        <p:spPr>
          <a:xfrm rot="0">
            <a:off x="1196792" y="3121010"/>
            <a:ext cx="15688422" cy="4514850"/>
          </a:xfrm>
          <a:prstGeom prst="rect">
            <a:avLst/>
          </a:prstGeom>
        </p:spPr>
        <p:txBody>
          <a:bodyPr anchor="t" rtlCol="false" tIns="0" lIns="0" bIns="0" rIns="0">
            <a:spAutoFit/>
          </a:bodyPr>
          <a:lstStyle/>
          <a:p>
            <a:pPr algn="l">
              <a:lnSpc>
                <a:spcPts val="3359"/>
              </a:lnSpc>
            </a:pPr>
            <a:r>
              <a:rPr lang="en-US" sz="2399" b="true">
                <a:solidFill>
                  <a:srgbClr val="000000"/>
                </a:solidFill>
                <a:latin typeface="Garet Bold"/>
                <a:ea typeface="Garet Bold"/>
                <a:cs typeface="Garet Bold"/>
                <a:sym typeface="Garet Bold"/>
              </a:rPr>
              <a:t>Configuration:</a:t>
            </a:r>
          </a:p>
          <a:p>
            <a:pPr algn="l" marL="453390" indent="-226695" lvl="1">
              <a:lnSpc>
                <a:spcPts val="2940"/>
              </a:lnSpc>
              <a:buFont typeface="Arial"/>
              <a:buChar char="•"/>
            </a:pPr>
            <a:r>
              <a:rPr lang="en-US" sz="2100">
                <a:solidFill>
                  <a:srgbClr val="000000"/>
                </a:solidFill>
                <a:latin typeface="Garet"/>
                <a:ea typeface="Garet"/>
                <a:cs typeface="Garet"/>
                <a:sym typeface="Garet"/>
              </a:rPr>
              <a:t>Architecture: DenseNet-121.</a:t>
            </a:r>
          </a:p>
          <a:p>
            <a:pPr algn="l" marL="453390" indent="-226695" lvl="1">
              <a:lnSpc>
                <a:spcPts val="2940"/>
              </a:lnSpc>
              <a:buFont typeface="Arial"/>
              <a:buChar char="•"/>
            </a:pPr>
            <a:r>
              <a:rPr lang="en-US" sz="2100">
                <a:solidFill>
                  <a:srgbClr val="000000"/>
                </a:solidFill>
                <a:latin typeface="Garet"/>
                <a:ea typeface="Garet"/>
                <a:cs typeface="Garet"/>
                <a:sym typeface="Garet"/>
              </a:rPr>
              <a:t>Loss Function: Asymmetric Loss (ASL).</a:t>
            </a:r>
          </a:p>
          <a:p>
            <a:pPr algn="l" marL="453390" indent="-226695" lvl="1">
              <a:lnSpc>
                <a:spcPts val="2940"/>
              </a:lnSpc>
              <a:buFont typeface="Arial"/>
              <a:buChar char="•"/>
            </a:pPr>
            <a:r>
              <a:rPr lang="en-US" sz="2100">
                <a:solidFill>
                  <a:srgbClr val="000000"/>
                </a:solidFill>
                <a:latin typeface="Garet"/>
                <a:ea typeface="Garet"/>
                <a:cs typeface="Garet"/>
                <a:sym typeface="Garet"/>
              </a:rPr>
              <a:t>Dataset: Raw Images.</a:t>
            </a:r>
          </a:p>
          <a:p>
            <a:pPr algn="l" marL="453390" indent="-226695" lvl="1">
              <a:lnSpc>
                <a:spcPts val="2940"/>
              </a:lnSpc>
              <a:buFont typeface="Arial"/>
              <a:buChar char="•"/>
            </a:pPr>
            <a:r>
              <a:rPr lang="en-US" sz="2100">
                <a:solidFill>
                  <a:srgbClr val="000000"/>
                </a:solidFill>
                <a:latin typeface="Garet"/>
                <a:ea typeface="Garet"/>
                <a:cs typeface="Garet"/>
                <a:sym typeface="Garet"/>
              </a:rPr>
              <a:t>Thresholding: Dynamic Optimization (Class-Specific).</a:t>
            </a:r>
          </a:p>
          <a:p>
            <a:pPr algn="l" marL="453390" indent="-226695" lvl="1">
              <a:lnSpc>
                <a:spcPts val="2940"/>
              </a:lnSpc>
              <a:buFont typeface="Arial"/>
              <a:buChar char="•"/>
            </a:pPr>
            <a:r>
              <a:rPr lang="en-US" sz="2100">
                <a:solidFill>
                  <a:srgbClr val="000000"/>
                </a:solidFill>
                <a:latin typeface="Garet"/>
                <a:ea typeface="Garet"/>
                <a:cs typeface="Garet"/>
                <a:sym typeface="Garet"/>
              </a:rPr>
              <a:t>Learning Rate / Epoch: 5e−5 / 15</a:t>
            </a:r>
          </a:p>
          <a:p>
            <a:pPr algn="l">
              <a:lnSpc>
                <a:spcPts val="3219"/>
              </a:lnSpc>
            </a:pPr>
            <a:r>
              <a:rPr lang="en-US" sz="2299" b="true">
                <a:solidFill>
                  <a:srgbClr val="000000"/>
                </a:solidFill>
                <a:latin typeface="Garet Bold"/>
                <a:ea typeface="Garet Bold"/>
                <a:cs typeface="Garet Bold"/>
                <a:sym typeface="Garet Bold"/>
              </a:rPr>
              <a:t>Observation:</a:t>
            </a:r>
          </a:p>
          <a:p>
            <a:pPr algn="l" marL="453390" indent="-226695" lvl="1">
              <a:lnSpc>
                <a:spcPts val="2940"/>
              </a:lnSpc>
              <a:buFont typeface="Arial"/>
              <a:buChar char="•"/>
            </a:pPr>
            <a:r>
              <a:rPr lang="en-US" sz="2100">
                <a:solidFill>
                  <a:srgbClr val="000000"/>
                </a:solidFill>
                <a:latin typeface="Garet"/>
                <a:ea typeface="Garet"/>
                <a:cs typeface="Garet"/>
                <a:sym typeface="Garet"/>
              </a:rPr>
              <a:t>Achieved the highest Macro F1 score (0.36), effectively bridging the gap between algorithmic output and clinical needs.</a:t>
            </a:r>
          </a:p>
          <a:p>
            <a:pPr algn="l" marL="453390" indent="-226695" lvl="1">
              <a:lnSpc>
                <a:spcPts val="2940"/>
              </a:lnSpc>
              <a:buFont typeface="Arial"/>
              <a:buChar char="•"/>
            </a:pPr>
            <a:r>
              <a:rPr lang="en-US" sz="2100">
                <a:solidFill>
                  <a:srgbClr val="000000"/>
                </a:solidFill>
                <a:latin typeface="Garet"/>
                <a:ea typeface="Garet"/>
                <a:cs typeface="Garet"/>
                <a:sym typeface="Garet"/>
              </a:rPr>
              <a:t>Replaced static 0.50 thresholding with class-specific cutoffs to maximize sensitivity for each pathology.</a:t>
            </a:r>
          </a:p>
          <a:p>
            <a:pPr algn="l" marL="453390" indent="-226695" lvl="1">
              <a:lnSpc>
                <a:spcPts val="2940"/>
              </a:lnSpc>
              <a:spcBef>
                <a:spcPct val="0"/>
              </a:spcBef>
              <a:buFont typeface="Arial"/>
              <a:buChar char="•"/>
            </a:pPr>
            <a:r>
              <a:rPr lang="en-US" sz="2100">
                <a:solidFill>
                  <a:srgbClr val="000000"/>
                </a:solidFill>
                <a:latin typeface="Garet"/>
                <a:ea typeface="Garet"/>
                <a:cs typeface="Garet"/>
                <a:sym typeface="Garet"/>
              </a:rPr>
              <a:t>Result: </a:t>
            </a:r>
            <a:r>
              <a:rPr lang="en-US" sz="2100">
                <a:solidFill>
                  <a:srgbClr val="000000"/>
                </a:solidFill>
                <a:latin typeface="Garet"/>
                <a:ea typeface="Garet"/>
                <a:cs typeface="Garet"/>
                <a:sym typeface="Garet"/>
              </a:rPr>
              <a:t>This configuration is our final, most reliable solution for the diagnostic system.</a:t>
            </a:r>
          </a:p>
          <a:p>
            <a:pPr algn="l">
              <a:lnSpc>
                <a:spcPts val="2940"/>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2030975" y="3387056"/>
            <a:ext cx="14514758" cy="2576370"/>
          </a:xfrm>
          <a:custGeom>
            <a:avLst/>
            <a:gdLst/>
            <a:ahLst/>
            <a:cxnLst/>
            <a:rect r="r" b="b" t="t" l="l"/>
            <a:pathLst>
              <a:path h="2576370" w="14514758">
                <a:moveTo>
                  <a:pt x="0" y="0"/>
                </a:moveTo>
                <a:lnTo>
                  <a:pt x="14514758" y="0"/>
                </a:lnTo>
                <a:lnTo>
                  <a:pt x="14514758" y="2576369"/>
                </a:lnTo>
                <a:lnTo>
                  <a:pt x="0" y="2576369"/>
                </a:lnTo>
                <a:lnTo>
                  <a:pt x="0" y="0"/>
                </a:lnTo>
                <a:close/>
              </a:path>
            </a:pathLst>
          </a:custGeom>
          <a:blipFill>
            <a:blip r:embed="rId3"/>
            <a:stretch>
              <a:fillRect l="0" t="0" r="0" b="0"/>
            </a:stretch>
          </a:blipFill>
        </p:spPr>
      </p:sp>
      <p:sp>
        <p:nvSpPr>
          <p:cNvPr name="TextBox 6" id="6"/>
          <p:cNvSpPr txBox="true"/>
          <p:nvPr/>
        </p:nvSpPr>
        <p:spPr>
          <a:xfrm rot="0">
            <a:off x="5089748" y="1392307"/>
            <a:ext cx="7824041" cy="785704"/>
          </a:xfrm>
          <a:prstGeom prst="rect">
            <a:avLst/>
          </a:prstGeom>
        </p:spPr>
        <p:txBody>
          <a:bodyPr anchor="t" rtlCol="false" tIns="0" lIns="0" bIns="0" rIns="0">
            <a:spAutoFit/>
          </a:bodyPr>
          <a:lstStyle/>
          <a:p>
            <a:pPr algn="ctr">
              <a:lnSpc>
                <a:spcPts val="5808"/>
              </a:lnSpc>
            </a:pPr>
            <a:r>
              <a:rPr lang="en-US" sz="5808" spc="-458">
                <a:solidFill>
                  <a:srgbClr val="000000"/>
                </a:solidFill>
                <a:latin typeface="Archivo Black"/>
                <a:ea typeface="Archivo Black"/>
                <a:cs typeface="Archivo Black"/>
                <a:sym typeface="Archivo Black"/>
              </a:rPr>
              <a:t>Comparison of Models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2310483"/>
            <a:ext cx="7203393" cy="225255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Backend Architecture &amp; Core Services</a:t>
            </a:r>
          </a:p>
        </p:txBody>
      </p:sp>
      <p:sp>
        <p:nvSpPr>
          <p:cNvPr name="TextBox 6" id="6"/>
          <p:cNvSpPr txBox="true"/>
          <p:nvPr/>
        </p:nvSpPr>
        <p:spPr>
          <a:xfrm rot="0">
            <a:off x="1028700" y="4698963"/>
            <a:ext cx="16230600" cy="2594610"/>
          </a:xfrm>
          <a:prstGeom prst="rect">
            <a:avLst/>
          </a:prstGeom>
        </p:spPr>
        <p:txBody>
          <a:bodyPr anchor="t" rtlCol="false" tIns="0" lIns="0" bIns="0" rIns="0">
            <a:spAutoFit/>
          </a:bodyPr>
          <a:lstStyle/>
          <a:p>
            <a:pPr algn="l" marL="453388" indent="-226694" lvl="1">
              <a:lnSpc>
                <a:spcPts val="2939"/>
              </a:lnSpc>
              <a:spcBef>
                <a:spcPct val="0"/>
              </a:spcBef>
              <a:buFont typeface="Arial"/>
              <a:buChar char="•"/>
            </a:pPr>
            <a:r>
              <a:rPr lang="en-US" b="true" sz="2099">
                <a:solidFill>
                  <a:srgbClr val="000000"/>
                </a:solidFill>
                <a:latin typeface="Garet Bold"/>
                <a:ea typeface="Garet Bold"/>
                <a:cs typeface="Garet Bold"/>
                <a:sym typeface="Garet Bold"/>
              </a:rPr>
              <a:t>Cloud-B</a:t>
            </a:r>
            <a:r>
              <a:rPr lang="en-US" b="true" sz="2099">
                <a:solidFill>
                  <a:srgbClr val="000000"/>
                </a:solidFill>
                <a:latin typeface="Garet Bold"/>
                <a:ea typeface="Garet Bold"/>
                <a:cs typeface="Garet Bold"/>
                <a:sym typeface="Garet Bold"/>
              </a:rPr>
              <a:t>ased NoSQL Foundation:</a:t>
            </a:r>
            <a:r>
              <a:rPr lang="en-US" sz="2099">
                <a:solidFill>
                  <a:srgbClr val="000000"/>
                </a:solidFill>
                <a:latin typeface="Garet"/>
                <a:ea typeface="Garet"/>
                <a:cs typeface="Garet"/>
                <a:sym typeface="Garet"/>
              </a:rPr>
              <a:t> The system has transitioned to cloud-based MongoDB Atlas to leverage its flexible document-based structure</a:t>
            </a:r>
            <a:r>
              <a:rPr lang="en-US" sz="2099">
                <a:solidFill>
                  <a:srgbClr val="000000"/>
                </a:solidFill>
                <a:latin typeface="Garet"/>
                <a:ea typeface="Garet"/>
                <a:cs typeface="Garet"/>
                <a:sym typeface="Garet"/>
              </a:rPr>
              <a:t> and meet fu</a:t>
            </a:r>
            <a:r>
              <a:rPr lang="en-US" sz="2099">
                <a:solidFill>
                  <a:srgbClr val="000000"/>
                </a:solidFill>
                <a:latin typeface="Garet"/>
                <a:ea typeface="Garet"/>
                <a:cs typeface="Garet"/>
                <a:sym typeface="Garet"/>
              </a:rPr>
              <a:t>ture scalability requirements.</a:t>
            </a:r>
          </a:p>
          <a:p>
            <a:pPr algn="l" marL="453388" indent="-226694" lvl="1">
              <a:lnSpc>
                <a:spcPts val="2939"/>
              </a:lnSpc>
              <a:spcBef>
                <a:spcPct val="0"/>
              </a:spcBef>
              <a:buFont typeface="Arial"/>
              <a:buChar char="•"/>
            </a:pPr>
            <a:r>
              <a:rPr lang="en-US" b="true" sz="2099">
                <a:solidFill>
                  <a:srgbClr val="000000"/>
                </a:solidFill>
                <a:latin typeface="Garet Bold"/>
                <a:ea typeface="Garet Bold"/>
                <a:cs typeface="Garet Bold"/>
                <a:sym typeface="Garet Bold"/>
              </a:rPr>
              <a:t>Decoupled Architecture:</a:t>
            </a:r>
            <a:r>
              <a:rPr lang="en-US" sz="2099">
                <a:solidFill>
                  <a:srgbClr val="000000"/>
                </a:solidFill>
                <a:latin typeface="Garet"/>
                <a:ea typeface="Garet"/>
                <a:cs typeface="Garet"/>
                <a:sym typeface="Garet"/>
              </a:rPr>
              <a:t> For a clean separation of concerns,</a:t>
            </a:r>
            <a:r>
              <a:rPr lang="en-US" sz="2099">
                <a:solidFill>
                  <a:srgbClr val="000000"/>
                </a:solidFill>
                <a:latin typeface="Garet"/>
                <a:ea typeface="Garet"/>
                <a:cs typeface="Garet"/>
                <a:sym typeface="Garet"/>
              </a:rPr>
              <a:t> </a:t>
            </a:r>
            <a:r>
              <a:rPr lang="en-US" sz="2099">
                <a:solidFill>
                  <a:srgbClr val="000000"/>
                </a:solidFill>
                <a:latin typeface="Garet"/>
                <a:ea typeface="Garet"/>
                <a:cs typeface="Garet"/>
                <a:sym typeface="Garet"/>
              </a:rPr>
              <a:t>the data structure is split into independent collections for users, patients, hospitals, and analyses.</a:t>
            </a:r>
          </a:p>
          <a:p>
            <a:pPr algn="l" marL="453388" indent="-226694" lvl="1">
              <a:lnSpc>
                <a:spcPts val="2939"/>
              </a:lnSpc>
              <a:spcBef>
                <a:spcPct val="0"/>
              </a:spcBef>
              <a:buFont typeface="Arial"/>
              <a:buChar char="•"/>
            </a:pPr>
            <a:r>
              <a:rPr lang="en-US" b="true" sz="2099">
                <a:solidFill>
                  <a:srgbClr val="000000"/>
                </a:solidFill>
                <a:latin typeface="Garet Bold"/>
                <a:ea typeface="Garet Bold"/>
                <a:cs typeface="Garet Bold"/>
                <a:sym typeface="Garet Bold"/>
              </a:rPr>
              <a:t>Development Framework: </a:t>
            </a:r>
            <a:r>
              <a:rPr lang="en-US" sz="2099">
                <a:solidFill>
                  <a:srgbClr val="000000"/>
                </a:solidFill>
                <a:latin typeface="Garet"/>
                <a:ea typeface="Garet"/>
                <a:cs typeface="Garet"/>
                <a:sym typeface="Garet"/>
              </a:rPr>
              <a:t>The FastAPI framework was selected due to its high performance, automatic API documentation, and seamless integration with Python-based AI/ML libraries.</a:t>
            </a:r>
          </a:p>
          <a:p>
            <a:pPr algn="l">
              <a:lnSpc>
                <a:spcPts val="2939"/>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8638245" y="473605"/>
            <a:ext cx="8621055" cy="3483255"/>
          </a:xfrm>
          <a:custGeom>
            <a:avLst/>
            <a:gdLst/>
            <a:ahLst/>
            <a:cxnLst/>
            <a:rect r="r" b="b" t="t" l="l"/>
            <a:pathLst>
              <a:path h="3483255" w="8621055">
                <a:moveTo>
                  <a:pt x="0" y="0"/>
                </a:moveTo>
                <a:lnTo>
                  <a:pt x="8621055" y="0"/>
                </a:lnTo>
                <a:lnTo>
                  <a:pt x="8621055" y="3483255"/>
                </a:lnTo>
                <a:lnTo>
                  <a:pt x="0" y="3483255"/>
                </a:lnTo>
                <a:lnTo>
                  <a:pt x="0" y="0"/>
                </a:lnTo>
                <a:close/>
              </a:path>
            </a:pathLst>
          </a:custGeom>
          <a:blipFill>
            <a:blip r:embed="rId3"/>
            <a:stretch>
              <a:fillRect l="-10832" t="-26264" r="-9014" b="-35764"/>
            </a:stretch>
          </a:blipFill>
        </p:spPr>
      </p:sp>
      <p:sp>
        <p:nvSpPr>
          <p:cNvPr name="TextBox 6" id="6"/>
          <p:cNvSpPr txBox="true"/>
          <p:nvPr/>
        </p:nvSpPr>
        <p:spPr>
          <a:xfrm rot="0">
            <a:off x="1028700" y="2310483"/>
            <a:ext cx="7203393"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Data Security &amp; Patient Privacy</a:t>
            </a:r>
          </a:p>
        </p:txBody>
      </p:sp>
      <p:sp>
        <p:nvSpPr>
          <p:cNvPr name="TextBox 7" id="7"/>
          <p:cNvSpPr txBox="true"/>
          <p:nvPr/>
        </p:nvSpPr>
        <p:spPr>
          <a:xfrm rot="0">
            <a:off x="1134570" y="4358636"/>
            <a:ext cx="16422654" cy="3337560"/>
          </a:xfrm>
          <a:prstGeom prst="rect">
            <a:avLst/>
          </a:prstGeom>
        </p:spPr>
        <p:txBody>
          <a:bodyPr anchor="t" rtlCol="false" tIns="0" lIns="0" bIns="0" rIns="0">
            <a:spAutoFit/>
          </a:bodyPr>
          <a:lstStyle/>
          <a:p>
            <a:pPr algn="l" marL="453388" indent="-226694" lvl="1">
              <a:lnSpc>
                <a:spcPts val="2939"/>
              </a:lnSpc>
              <a:spcBef>
                <a:spcPct val="0"/>
              </a:spcBef>
              <a:buFont typeface="Arial"/>
              <a:buChar char="•"/>
            </a:pPr>
            <a:r>
              <a:rPr lang="en-US" b="true" sz="2099">
                <a:solidFill>
                  <a:srgbClr val="000000"/>
                </a:solidFill>
                <a:latin typeface="Garet Bold"/>
                <a:ea typeface="Garet Bold"/>
                <a:cs typeface="Garet Bold"/>
                <a:sym typeface="Garet Bold"/>
              </a:rPr>
              <a:t>Cryptographic Password Has</a:t>
            </a:r>
            <a:r>
              <a:rPr lang="en-US" b="true" sz="2099">
                <a:solidFill>
                  <a:srgbClr val="000000"/>
                </a:solidFill>
                <a:latin typeface="Garet Bold"/>
                <a:ea typeface="Garet Bold"/>
                <a:cs typeface="Garet Bold"/>
                <a:sym typeface="Garet Bold"/>
              </a:rPr>
              <a:t>hing:</a:t>
            </a:r>
            <a:r>
              <a:rPr lang="en-US" sz="2099">
                <a:solidFill>
                  <a:srgbClr val="000000"/>
                </a:solidFill>
                <a:latin typeface="Garet"/>
                <a:ea typeface="Garet"/>
                <a:cs typeface="Garet"/>
                <a:sym typeface="Garet"/>
              </a:rPr>
              <a:t> User and doctor credentials are never stored in plain text and are securely hashed using the bcrypt algorithm</a:t>
            </a:r>
            <a:r>
              <a:rPr lang="en-US" sz="2099">
                <a:solidFill>
                  <a:srgbClr val="000000"/>
                </a:solidFill>
                <a:latin typeface="Garet"/>
                <a:ea typeface="Garet"/>
                <a:cs typeface="Garet"/>
                <a:sym typeface="Garet"/>
              </a:rPr>
              <a:t> during </a:t>
            </a:r>
            <a:r>
              <a:rPr lang="en-US" sz="2099">
                <a:solidFill>
                  <a:srgbClr val="000000"/>
                </a:solidFill>
                <a:latin typeface="Garet"/>
                <a:ea typeface="Garet"/>
                <a:cs typeface="Garet"/>
                <a:sym typeface="Garet"/>
              </a:rPr>
              <a:t>registration.</a:t>
            </a:r>
          </a:p>
          <a:p>
            <a:pPr algn="l" marL="453388" indent="-226694" lvl="1">
              <a:lnSpc>
                <a:spcPts val="2939"/>
              </a:lnSpc>
              <a:spcBef>
                <a:spcPct val="0"/>
              </a:spcBef>
              <a:buFont typeface="Arial"/>
              <a:buChar char="•"/>
            </a:pPr>
            <a:r>
              <a:rPr lang="en-US" b="true" sz="2099">
                <a:solidFill>
                  <a:srgbClr val="000000"/>
                </a:solidFill>
                <a:latin typeface="Garet Bold"/>
                <a:ea typeface="Garet Bold"/>
                <a:cs typeface="Garet Bold"/>
                <a:sym typeface="Garet Bold"/>
              </a:rPr>
              <a:t>Protocol ID Separation (Anonymization):</a:t>
            </a:r>
            <a:r>
              <a:rPr lang="en-US" sz="2099">
                <a:solidFill>
                  <a:srgbClr val="000000"/>
                </a:solidFill>
                <a:latin typeface="Garet"/>
                <a:ea typeface="Garet"/>
                <a:cs typeface="Garet"/>
                <a:sym typeface="Garet"/>
              </a:rPr>
              <a:t> Sensitive</a:t>
            </a:r>
            <a:r>
              <a:rPr lang="en-US" sz="2099">
                <a:solidFill>
                  <a:srgbClr val="000000"/>
                </a:solidFill>
                <a:latin typeface="Garet"/>
                <a:ea typeface="Garet"/>
                <a:cs typeface="Garet"/>
                <a:sym typeface="Garet"/>
              </a:rPr>
              <a:t> person</a:t>
            </a:r>
            <a:r>
              <a:rPr lang="en-US" sz="2099">
                <a:solidFill>
                  <a:srgbClr val="000000"/>
                </a:solidFill>
                <a:latin typeface="Garet"/>
                <a:ea typeface="Garet"/>
                <a:cs typeface="Garet"/>
                <a:sym typeface="Garet"/>
              </a:rPr>
              <a:t>al data like National ID numbers are used only once to prevent duplicate records; all subsequent operations are anonymized via a unique Protocol ID.</a:t>
            </a:r>
          </a:p>
          <a:p>
            <a:pPr algn="l" marL="453388" indent="-226694" lvl="1">
              <a:lnSpc>
                <a:spcPts val="2939"/>
              </a:lnSpc>
              <a:spcBef>
                <a:spcPct val="0"/>
              </a:spcBef>
              <a:buFont typeface="Arial"/>
              <a:buChar char="•"/>
            </a:pPr>
            <a:r>
              <a:rPr lang="en-US" b="true" sz="2099">
                <a:solidFill>
                  <a:srgbClr val="000000"/>
                </a:solidFill>
                <a:latin typeface="Garet Bold"/>
                <a:ea typeface="Garet Bold"/>
                <a:cs typeface="Garet Bold"/>
                <a:sym typeface="Garet Bold"/>
              </a:rPr>
              <a:t>Multi-Stage Admin Approval:</a:t>
            </a:r>
            <a:r>
              <a:rPr lang="en-US" sz="2099">
                <a:solidFill>
                  <a:srgbClr val="000000"/>
                </a:solidFill>
                <a:latin typeface="Garet"/>
                <a:ea typeface="Garet"/>
                <a:cs typeface="Garet"/>
                <a:sym typeface="Garet"/>
              </a:rPr>
              <a:t> To ensure medical data security, newly registered doctor accounts are created in a "pending" status and require explicit administrator approval before activation.</a:t>
            </a:r>
          </a:p>
          <a:p>
            <a:pPr algn="l" marL="453388" indent="-226694" lvl="1">
              <a:lnSpc>
                <a:spcPts val="2939"/>
              </a:lnSpc>
              <a:spcBef>
                <a:spcPct val="0"/>
              </a:spcBef>
              <a:buFont typeface="Arial"/>
              <a:buChar char="•"/>
            </a:pPr>
            <a:r>
              <a:rPr lang="en-US" b="true" sz="2099">
                <a:solidFill>
                  <a:srgbClr val="000000"/>
                </a:solidFill>
                <a:latin typeface="Garet Bold"/>
                <a:ea typeface="Garet Bold"/>
                <a:cs typeface="Garet Bold"/>
                <a:sym typeface="Garet Bold"/>
              </a:rPr>
              <a:t>Network &amp; Access Control:</a:t>
            </a:r>
            <a:r>
              <a:rPr lang="en-US" sz="2099">
                <a:solidFill>
                  <a:srgbClr val="000000"/>
                </a:solidFill>
                <a:latin typeface="Garet"/>
                <a:ea typeface="Garet"/>
                <a:cs typeface="Garet"/>
                <a:sym typeface="Garet"/>
              </a:rPr>
              <a:t> All data interactions are handled exclusively through structured REST API endpoints, with no direct database access exposed to the client.</a:t>
            </a:r>
          </a:p>
          <a:p>
            <a:pPr algn="l">
              <a:lnSpc>
                <a:spcPts val="2939"/>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Freeform 5" id="5"/>
          <p:cNvSpPr/>
          <p:nvPr/>
        </p:nvSpPr>
        <p:spPr>
          <a:xfrm flipH="false" flipV="false" rot="0">
            <a:off x="1602470" y="326400"/>
            <a:ext cx="15083060" cy="8484221"/>
          </a:xfrm>
          <a:custGeom>
            <a:avLst/>
            <a:gdLst/>
            <a:ahLst/>
            <a:cxnLst/>
            <a:rect r="r" b="b" t="t" l="l"/>
            <a:pathLst>
              <a:path h="8484221" w="15083060">
                <a:moveTo>
                  <a:pt x="0" y="0"/>
                </a:moveTo>
                <a:lnTo>
                  <a:pt x="15083060" y="0"/>
                </a:lnTo>
                <a:lnTo>
                  <a:pt x="15083060" y="8484221"/>
                </a:lnTo>
                <a:lnTo>
                  <a:pt x="0" y="8484221"/>
                </a:lnTo>
                <a:lnTo>
                  <a:pt x="0" y="0"/>
                </a:lnTo>
                <a:close/>
              </a:path>
            </a:pathLst>
          </a:custGeom>
          <a:blipFill>
            <a:blip r:embed="rId3"/>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2883373" y="182394"/>
            <a:ext cx="13177804" cy="1519129"/>
          </a:xfrm>
          <a:prstGeom prst="rect">
            <a:avLst/>
          </a:prstGeom>
        </p:spPr>
        <p:txBody>
          <a:bodyPr anchor="t" rtlCol="false" tIns="0" lIns="0" bIns="0" rIns="0">
            <a:spAutoFit/>
          </a:bodyPr>
          <a:lstStyle/>
          <a:p>
            <a:pPr algn="ctr" marL="0" indent="0" lvl="0">
              <a:lnSpc>
                <a:spcPts val="5808"/>
              </a:lnSpc>
              <a:spcBef>
                <a:spcPct val="0"/>
              </a:spcBef>
            </a:pPr>
            <a:r>
              <a:rPr lang="en-US" sz="5808" spc="-458">
                <a:solidFill>
                  <a:srgbClr val="000000"/>
                </a:solidFill>
                <a:latin typeface="Archivo Black"/>
                <a:ea typeface="Archivo Black"/>
                <a:cs typeface="Archivo Black"/>
                <a:sym typeface="Archivo Black"/>
              </a:rPr>
              <a:t>Frontend–Backend Integration &amp; Workflow Actuation</a:t>
            </a:r>
          </a:p>
        </p:txBody>
      </p:sp>
      <p:sp>
        <p:nvSpPr>
          <p:cNvPr name="AutoShape 4" id="4"/>
          <p:cNvSpPr/>
          <p:nvPr/>
        </p:nvSpPr>
        <p:spPr>
          <a:xfrm>
            <a:off x="1457032" y="5491331"/>
            <a:ext cx="13838306" cy="0"/>
          </a:xfrm>
          <a:prstGeom prst="line">
            <a:avLst/>
          </a:prstGeom>
          <a:ln cap="rnd" w="19050">
            <a:solidFill>
              <a:srgbClr val="000000"/>
            </a:solidFill>
            <a:prstDash val="solid"/>
            <a:headEnd type="none" len="sm" w="sm"/>
            <a:tailEnd type="none" len="sm" w="sm"/>
          </a:ln>
        </p:spPr>
      </p:sp>
      <p:sp>
        <p:nvSpPr>
          <p:cNvPr name="Freeform 5" id="5"/>
          <p:cNvSpPr/>
          <p:nvPr/>
        </p:nvSpPr>
        <p:spPr>
          <a:xfrm flipH="false" flipV="false" rot="5400000">
            <a:off x="15678737" y="4283684"/>
            <a:ext cx="1629446" cy="2396244"/>
          </a:xfrm>
          <a:custGeom>
            <a:avLst/>
            <a:gdLst/>
            <a:ahLst/>
            <a:cxnLst/>
            <a:rect r="r" b="b" t="t" l="l"/>
            <a:pathLst>
              <a:path h="2396244" w="1629446">
                <a:moveTo>
                  <a:pt x="0" y="0"/>
                </a:moveTo>
                <a:lnTo>
                  <a:pt x="1629446" y="0"/>
                </a:lnTo>
                <a:lnTo>
                  <a:pt x="1629446" y="2396245"/>
                </a:lnTo>
                <a:lnTo>
                  <a:pt x="0" y="23962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2093278" y="5291430"/>
            <a:ext cx="380752" cy="380752"/>
          </a:xfrm>
          <a:custGeom>
            <a:avLst/>
            <a:gdLst/>
            <a:ahLst/>
            <a:cxnLst/>
            <a:rect r="r" b="b" t="t" l="l"/>
            <a:pathLst>
              <a:path h="380752" w="380752">
                <a:moveTo>
                  <a:pt x="0" y="0"/>
                </a:moveTo>
                <a:lnTo>
                  <a:pt x="380752" y="0"/>
                </a:lnTo>
                <a:lnTo>
                  <a:pt x="380752" y="380753"/>
                </a:lnTo>
                <a:lnTo>
                  <a:pt x="0" y="380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5891060" y="5291430"/>
            <a:ext cx="380752" cy="380752"/>
          </a:xfrm>
          <a:custGeom>
            <a:avLst/>
            <a:gdLst/>
            <a:ahLst/>
            <a:cxnLst/>
            <a:rect r="r" b="b" t="t" l="l"/>
            <a:pathLst>
              <a:path h="380752" w="380752">
                <a:moveTo>
                  <a:pt x="0" y="0"/>
                </a:moveTo>
                <a:lnTo>
                  <a:pt x="380752" y="0"/>
                </a:lnTo>
                <a:lnTo>
                  <a:pt x="380752" y="380753"/>
                </a:lnTo>
                <a:lnTo>
                  <a:pt x="0" y="380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9189337" y="5291430"/>
            <a:ext cx="380752" cy="380752"/>
          </a:xfrm>
          <a:custGeom>
            <a:avLst/>
            <a:gdLst/>
            <a:ahLst/>
            <a:cxnLst/>
            <a:rect r="r" b="b" t="t" l="l"/>
            <a:pathLst>
              <a:path h="380752" w="380752">
                <a:moveTo>
                  <a:pt x="0" y="0"/>
                </a:moveTo>
                <a:lnTo>
                  <a:pt x="380752" y="0"/>
                </a:lnTo>
                <a:lnTo>
                  <a:pt x="380752" y="380753"/>
                </a:lnTo>
                <a:lnTo>
                  <a:pt x="0" y="380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2252181" y="5291430"/>
            <a:ext cx="380752" cy="380752"/>
          </a:xfrm>
          <a:custGeom>
            <a:avLst/>
            <a:gdLst/>
            <a:ahLst/>
            <a:cxnLst/>
            <a:rect r="r" b="b" t="t" l="l"/>
            <a:pathLst>
              <a:path h="380752" w="380752">
                <a:moveTo>
                  <a:pt x="0" y="0"/>
                </a:moveTo>
                <a:lnTo>
                  <a:pt x="380752" y="0"/>
                </a:lnTo>
                <a:lnTo>
                  <a:pt x="380752" y="380753"/>
                </a:lnTo>
                <a:lnTo>
                  <a:pt x="0" y="38075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256469" y="2028063"/>
            <a:ext cx="4435121" cy="2977617"/>
            <a:chOff x="0" y="0"/>
            <a:chExt cx="5913495" cy="3970156"/>
          </a:xfrm>
        </p:grpSpPr>
        <p:sp>
          <p:nvSpPr>
            <p:cNvPr name="TextBox 11" id="11"/>
            <p:cNvSpPr txBox="true"/>
            <p:nvPr/>
          </p:nvSpPr>
          <p:spPr>
            <a:xfrm rot="0">
              <a:off x="8305" y="-28575"/>
              <a:ext cx="5160518"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Authentication</a:t>
              </a:r>
            </a:p>
          </p:txBody>
        </p:sp>
        <p:sp>
          <p:nvSpPr>
            <p:cNvPr name="TextBox 12" id="12"/>
            <p:cNvSpPr txBox="true"/>
            <p:nvPr/>
          </p:nvSpPr>
          <p:spPr>
            <a:xfrm rot="0">
              <a:off x="0" y="610159"/>
              <a:ext cx="5913495" cy="3359997"/>
            </a:xfrm>
            <a:prstGeom prst="rect">
              <a:avLst/>
            </a:prstGeom>
          </p:spPr>
          <p:txBody>
            <a:bodyPr anchor="t" rtlCol="false" tIns="0" lIns="0" bIns="0" rIns="0">
              <a:spAutoFit/>
            </a:bodyPr>
            <a:lstStyle/>
            <a:p>
              <a:pPr algn="l">
                <a:lnSpc>
                  <a:spcPts val="2859"/>
                </a:lnSpc>
                <a:spcBef>
                  <a:spcPct val="0"/>
                </a:spcBef>
              </a:pPr>
              <a:r>
                <a:rPr lang="en-US" sz="2199">
                  <a:solidFill>
                    <a:srgbClr val="000000"/>
                  </a:solidFill>
                  <a:latin typeface="Garet"/>
                  <a:ea typeface="Garet"/>
                  <a:cs typeface="Garet"/>
                  <a:sym typeface="Garet"/>
                </a:rPr>
                <a:t>Doctor credentials entered via the React Native client are transmitted via a secure REST API, initiating a secure session only after bcrypt verification and admin approval (is_verified: true).</a:t>
              </a:r>
            </a:p>
          </p:txBody>
        </p:sp>
      </p:grpSp>
      <p:grpSp>
        <p:nvGrpSpPr>
          <p:cNvPr name="Group 13" id="13"/>
          <p:cNvGrpSpPr/>
          <p:nvPr/>
        </p:nvGrpSpPr>
        <p:grpSpPr>
          <a:xfrm rot="0">
            <a:off x="7186779" y="2028063"/>
            <a:ext cx="4968154" cy="3006192"/>
            <a:chOff x="0" y="0"/>
            <a:chExt cx="6624206" cy="4008256"/>
          </a:xfrm>
        </p:grpSpPr>
        <p:sp>
          <p:nvSpPr>
            <p:cNvPr name="TextBox 14" id="14"/>
            <p:cNvSpPr txBox="true"/>
            <p:nvPr/>
          </p:nvSpPr>
          <p:spPr>
            <a:xfrm rot="0">
              <a:off x="0" y="-28575"/>
              <a:ext cx="4918675" cy="10784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Image Upload &amp; Pipeline Ignition</a:t>
              </a:r>
            </a:p>
          </p:txBody>
        </p:sp>
        <p:sp>
          <p:nvSpPr>
            <p:cNvPr name="TextBox 15" id="15"/>
            <p:cNvSpPr txBox="true"/>
            <p:nvPr/>
          </p:nvSpPr>
          <p:spPr>
            <a:xfrm rot="0">
              <a:off x="0" y="1130859"/>
              <a:ext cx="6624206" cy="2877397"/>
            </a:xfrm>
            <a:prstGeom prst="rect">
              <a:avLst/>
            </a:prstGeom>
          </p:spPr>
          <p:txBody>
            <a:bodyPr anchor="t" rtlCol="false" tIns="0" lIns="0" bIns="0" rIns="0">
              <a:spAutoFit/>
            </a:bodyPr>
            <a:lstStyle/>
            <a:p>
              <a:pPr algn="l">
                <a:lnSpc>
                  <a:spcPts val="2859"/>
                </a:lnSpc>
                <a:spcBef>
                  <a:spcPct val="0"/>
                </a:spcBef>
              </a:pPr>
              <a:r>
                <a:rPr lang="en-US" sz="2199">
                  <a:solidFill>
                    <a:srgbClr val="000000"/>
                  </a:solidFill>
                  <a:latin typeface="Garet"/>
                  <a:ea typeface="Garet"/>
                  <a:cs typeface="Garet"/>
                  <a:sym typeface="Garet"/>
                </a:rPr>
                <a:t>When an X-ray is selected, the file is posted alongside its Protocol ID, passing protocol verification and file type validation before being saved to a storage path with a 'pending' status.</a:t>
              </a:r>
            </a:p>
          </p:txBody>
        </p:sp>
      </p:grpSp>
      <p:grpSp>
        <p:nvGrpSpPr>
          <p:cNvPr name="Group 16" id="16"/>
          <p:cNvGrpSpPr/>
          <p:nvPr/>
        </p:nvGrpSpPr>
        <p:grpSpPr>
          <a:xfrm rot="0">
            <a:off x="4236767" y="5957933"/>
            <a:ext cx="3689339" cy="3653892"/>
            <a:chOff x="0" y="0"/>
            <a:chExt cx="4919119" cy="4871856"/>
          </a:xfrm>
        </p:grpSpPr>
        <p:sp>
          <p:nvSpPr>
            <p:cNvPr name="TextBox 17" id="17"/>
            <p:cNvSpPr txBox="true"/>
            <p:nvPr/>
          </p:nvSpPr>
          <p:spPr>
            <a:xfrm rot="0">
              <a:off x="0" y="-28575"/>
              <a:ext cx="4919119" cy="5323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Patient Management</a:t>
              </a:r>
            </a:p>
          </p:txBody>
        </p:sp>
        <p:sp>
          <p:nvSpPr>
            <p:cNvPr name="TextBox 18" id="18"/>
            <p:cNvSpPr txBox="true"/>
            <p:nvPr/>
          </p:nvSpPr>
          <p:spPr>
            <a:xfrm rot="0">
              <a:off x="0" y="546659"/>
              <a:ext cx="4919119" cy="4325197"/>
            </a:xfrm>
            <a:prstGeom prst="rect">
              <a:avLst/>
            </a:prstGeom>
          </p:spPr>
          <p:txBody>
            <a:bodyPr anchor="t" rtlCol="false" tIns="0" lIns="0" bIns="0" rIns="0">
              <a:spAutoFit/>
            </a:bodyPr>
            <a:lstStyle/>
            <a:p>
              <a:pPr algn="l">
                <a:lnSpc>
                  <a:spcPts val="2859"/>
                </a:lnSpc>
                <a:spcBef>
                  <a:spcPct val="0"/>
                </a:spcBef>
              </a:pPr>
              <a:r>
                <a:rPr lang="en-US" sz="2199">
                  <a:solidFill>
                    <a:srgbClr val="000000"/>
                  </a:solidFill>
                  <a:latin typeface="Garet"/>
                  <a:ea typeface="Garet"/>
                  <a:cs typeface="Garet"/>
                  <a:sym typeface="Garet"/>
                </a:rPr>
                <a:t>Upon creating a new patient, the back</a:t>
              </a:r>
              <a:r>
                <a:rPr lang="en-US" sz="2199">
                  <a:solidFill>
                    <a:srgbClr val="000000"/>
                  </a:solidFill>
                  <a:latin typeface="Garet"/>
                  <a:ea typeface="Garet"/>
                  <a:cs typeface="Garet"/>
                  <a:sym typeface="Garet"/>
                </a:rPr>
                <a:t>end optionally exe</a:t>
              </a:r>
              <a:r>
                <a:rPr lang="en-US" sz="2199">
                  <a:solidFill>
                    <a:srgbClr val="000000"/>
                  </a:solidFill>
                  <a:latin typeface="Garet"/>
                  <a:ea typeface="Garet"/>
                  <a:cs typeface="Garet"/>
                  <a:sym typeface="Garet"/>
                </a:rPr>
                <a:t>cutes a National ID duplicate check and automatically returns a unique Protocol ID (e.g. P-102534) to the React Native client for all future operations.</a:t>
              </a:r>
            </a:p>
          </p:txBody>
        </p:sp>
      </p:grpSp>
      <p:grpSp>
        <p:nvGrpSpPr>
          <p:cNvPr name="Group 19" id="19"/>
          <p:cNvGrpSpPr/>
          <p:nvPr/>
        </p:nvGrpSpPr>
        <p:grpSpPr>
          <a:xfrm rot="0">
            <a:off x="10329185" y="5957933"/>
            <a:ext cx="4060499" cy="3034767"/>
            <a:chOff x="0" y="0"/>
            <a:chExt cx="5413999" cy="4046356"/>
          </a:xfrm>
        </p:grpSpPr>
        <p:sp>
          <p:nvSpPr>
            <p:cNvPr name="TextBox 20" id="20"/>
            <p:cNvSpPr txBox="true"/>
            <p:nvPr/>
          </p:nvSpPr>
          <p:spPr>
            <a:xfrm rot="0">
              <a:off x="0" y="-28575"/>
              <a:ext cx="4125989" cy="1078442"/>
            </a:xfrm>
            <a:prstGeom prst="rect">
              <a:avLst/>
            </a:prstGeom>
          </p:spPr>
          <p:txBody>
            <a:bodyPr anchor="t" rtlCol="false" tIns="0" lIns="0" bIns="0" rIns="0">
              <a:spAutoFit/>
            </a:bodyPr>
            <a:lstStyle/>
            <a:p>
              <a:pPr algn="l" marL="0" indent="0" lvl="0">
                <a:lnSpc>
                  <a:spcPts val="3249"/>
                </a:lnSpc>
                <a:spcBef>
                  <a:spcPct val="0"/>
                </a:spcBef>
              </a:pPr>
              <a:r>
                <a:rPr lang="en-US" b="true" sz="2499">
                  <a:solidFill>
                    <a:srgbClr val="000000"/>
                  </a:solidFill>
                  <a:latin typeface="Garet Bold"/>
                  <a:ea typeface="Garet Bold"/>
                  <a:cs typeface="Garet Bold"/>
                  <a:sym typeface="Garet Bold"/>
                </a:rPr>
                <a:t>AI Inference &amp; Result Delivery</a:t>
              </a:r>
            </a:p>
          </p:txBody>
        </p:sp>
        <p:sp>
          <p:nvSpPr>
            <p:cNvPr name="TextBox 21" id="21"/>
            <p:cNvSpPr txBox="true"/>
            <p:nvPr/>
          </p:nvSpPr>
          <p:spPr>
            <a:xfrm rot="0">
              <a:off x="0" y="1168959"/>
              <a:ext cx="5413999" cy="2877397"/>
            </a:xfrm>
            <a:prstGeom prst="rect">
              <a:avLst/>
            </a:prstGeom>
          </p:spPr>
          <p:txBody>
            <a:bodyPr anchor="t" rtlCol="false" tIns="0" lIns="0" bIns="0" rIns="0">
              <a:spAutoFit/>
            </a:bodyPr>
            <a:lstStyle/>
            <a:p>
              <a:pPr algn="l">
                <a:lnSpc>
                  <a:spcPts val="2859"/>
                </a:lnSpc>
                <a:spcBef>
                  <a:spcPct val="0"/>
                </a:spcBef>
              </a:pPr>
              <a:r>
                <a:rPr lang="en-US" sz="2199">
                  <a:solidFill>
                    <a:srgbClr val="000000"/>
                  </a:solidFill>
                  <a:latin typeface="Garet"/>
                  <a:ea typeface="Garet"/>
                  <a:cs typeface="Garet"/>
                  <a:sym typeface="Garet"/>
                </a:rPr>
                <a:t>After the X-ray is uploaded, the analysis record is saved to the analyses collection with a 'pending' status, ready to be processed by the AI pipeline.</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734595" y="1028700"/>
            <a:ext cx="3799129" cy="8229600"/>
          </a:xfrm>
          <a:custGeom>
            <a:avLst/>
            <a:gdLst/>
            <a:ahLst/>
            <a:cxnLst/>
            <a:rect r="r" b="b" t="t" l="l"/>
            <a:pathLst>
              <a:path h="8229600" w="3799129">
                <a:moveTo>
                  <a:pt x="0" y="0"/>
                </a:moveTo>
                <a:lnTo>
                  <a:pt x="3799129" y="0"/>
                </a:lnTo>
                <a:lnTo>
                  <a:pt x="3799129"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130976" y="1028700"/>
            <a:ext cx="3799129" cy="8229600"/>
          </a:xfrm>
          <a:custGeom>
            <a:avLst/>
            <a:gdLst/>
            <a:ahLst/>
            <a:cxnLst/>
            <a:rect r="r" b="b" t="t" l="l"/>
            <a:pathLst>
              <a:path h="8229600" w="3799129">
                <a:moveTo>
                  <a:pt x="0" y="0"/>
                </a:moveTo>
                <a:lnTo>
                  <a:pt x="3799129" y="0"/>
                </a:lnTo>
                <a:lnTo>
                  <a:pt x="3799129" y="8229600"/>
                </a:lnTo>
                <a:lnTo>
                  <a:pt x="0" y="8229600"/>
                </a:lnTo>
                <a:lnTo>
                  <a:pt x="0" y="0"/>
                </a:lnTo>
                <a:close/>
              </a:path>
            </a:pathLst>
          </a:custGeom>
          <a:blipFill>
            <a:blip r:embed="rId4"/>
            <a:stretch>
              <a:fillRect l="0" t="0" r="0" b="0"/>
            </a:stretch>
          </a:blipFill>
        </p:spPr>
      </p:sp>
      <p:sp>
        <p:nvSpPr>
          <p:cNvPr name="Freeform 5" id="5"/>
          <p:cNvSpPr/>
          <p:nvPr/>
        </p:nvSpPr>
        <p:spPr>
          <a:xfrm flipH="false" flipV="false" rot="0">
            <a:off x="734595" y="1028700"/>
            <a:ext cx="3799129" cy="8229600"/>
          </a:xfrm>
          <a:custGeom>
            <a:avLst/>
            <a:gdLst/>
            <a:ahLst/>
            <a:cxnLst/>
            <a:rect r="r" b="b" t="t" l="l"/>
            <a:pathLst>
              <a:path h="8229600" w="3799129">
                <a:moveTo>
                  <a:pt x="0" y="0"/>
                </a:moveTo>
                <a:lnTo>
                  <a:pt x="3799129" y="0"/>
                </a:lnTo>
                <a:lnTo>
                  <a:pt x="3799129" y="8229600"/>
                </a:lnTo>
                <a:lnTo>
                  <a:pt x="0" y="8229600"/>
                </a:lnTo>
                <a:lnTo>
                  <a:pt x="0" y="0"/>
                </a:lnTo>
                <a:close/>
              </a:path>
            </a:pathLst>
          </a:custGeom>
          <a:blipFill>
            <a:blip r:embed="rId5"/>
            <a:stretch>
              <a:fillRect l="-2529" t="0" r="-2529" b="0"/>
            </a:stretch>
          </a:blipFill>
        </p:spPr>
      </p:sp>
      <p:sp>
        <p:nvSpPr>
          <p:cNvPr name="Freeform 6" id="6"/>
          <p:cNvSpPr/>
          <p:nvPr/>
        </p:nvSpPr>
        <p:spPr>
          <a:xfrm flipH="false" flipV="false" rot="0">
            <a:off x="5130976" y="1028700"/>
            <a:ext cx="3799129" cy="8229600"/>
          </a:xfrm>
          <a:custGeom>
            <a:avLst/>
            <a:gdLst/>
            <a:ahLst/>
            <a:cxnLst/>
            <a:rect r="r" b="b" t="t" l="l"/>
            <a:pathLst>
              <a:path h="8229600" w="3799129">
                <a:moveTo>
                  <a:pt x="0" y="0"/>
                </a:moveTo>
                <a:lnTo>
                  <a:pt x="3799129" y="0"/>
                </a:lnTo>
                <a:lnTo>
                  <a:pt x="3799129" y="8229600"/>
                </a:lnTo>
                <a:lnTo>
                  <a:pt x="0" y="8229600"/>
                </a:lnTo>
                <a:lnTo>
                  <a:pt x="0" y="0"/>
                </a:lnTo>
                <a:close/>
              </a:path>
            </a:pathLst>
          </a:custGeom>
          <a:blipFill>
            <a:blip r:embed="rId6"/>
            <a:stretch>
              <a:fillRect l="-2259" t="0" r="-2259" b="0"/>
            </a:stretch>
          </a:blipFill>
        </p:spPr>
      </p:sp>
      <p:sp>
        <p:nvSpPr>
          <p:cNvPr name="TextBox 7" id="7"/>
          <p:cNvSpPr txBox="true"/>
          <p:nvPr/>
        </p:nvSpPr>
        <p:spPr>
          <a:xfrm rot="0">
            <a:off x="9530180" y="1123950"/>
            <a:ext cx="8757820" cy="298597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Secure User Access and Role-Based Authentication</a:t>
            </a:r>
          </a:p>
          <a:p>
            <a:pPr algn="l">
              <a:lnSpc>
                <a:spcPts val="5808"/>
              </a:lnSpc>
            </a:pPr>
          </a:p>
        </p:txBody>
      </p:sp>
      <p:sp>
        <p:nvSpPr>
          <p:cNvPr name="TextBox 8" id="8"/>
          <p:cNvSpPr txBox="true"/>
          <p:nvPr/>
        </p:nvSpPr>
        <p:spPr>
          <a:xfrm rot="0">
            <a:off x="9343022" y="3578225"/>
            <a:ext cx="8217669" cy="3927475"/>
          </a:xfrm>
          <a:prstGeom prst="rect">
            <a:avLst/>
          </a:prstGeom>
        </p:spPr>
        <p:txBody>
          <a:bodyPr anchor="t" rtlCol="false" tIns="0" lIns="0" bIns="0" rIns="0">
            <a:spAutoFit/>
          </a:bodyPr>
          <a:lstStyle/>
          <a:p>
            <a:pPr algn="l" marL="539746" indent="-269873" lvl="1">
              <a:lnSpc>
                <a:spcPts val="3499"/>
              </a:lnSpc>
              <a:buFont typeface="Arial"/>
              <a:buChar char="•"/>
            </a:pPr>
            <a:r>
              <a:rPr lang="en-US" sz="2499">
                <a:solidFill>
                  <a:srgbClr val="000000"/>
                </a:solidFill>
                <a:latin typeface="Garet"/>
                <a:ea typeface="Garet"/>
                <a:cs typeface="Garet"/>
                <a:sym typeface="Garet"/>
              </a:rPr>
              <a:t>Provides separate access paths for doctors and hospital administrators.</a:t>
            </a:r>
          </a:p>
          <a:p>
            <a:pPr algn="l">
              <a:lnSpc>
                <a:spcPts val="3499"/>
              </a:lnSpc>
            </a:pPr>
          </a:p>
          <a:p>
            <a:pPr algn="l" marL="539746" indent="-269873" lvl="1">
              <a:lnSpc>
                <a:spcPts val="3499"/>
              </a:lnSpc>
              <a:buFont typeface="Arial"/>
              <a:buChar char="•"/>
            </a:pPr>
            <a:r>
              <a:rPr lang="en-US" sz="2499">
                <a:solidFill>
                  <a:srgbClr val="000000"/>
                </a:solidFill>
                <a:latin typeface="Garet"/>
                <a:ea typeface="Garet"/>
                <a:cs typeface="Garet"/>
                <a:sym typeface="Garet"/>
              </a:rPr>
              <a:t>Guides users to the correct workflow through role-based navigation.</a:t>
            </a:r>
          </a:p>
          <a:p>
            <a:pPr algn="l">
              <a:lnSpc>
                <a:spcPts val="3499"/>
              </a:lnSpc>
            </a:pPr>
          </a:p>
          <a:p>
            <a:pPr algn="l" marL="539746" indent="-269873" lvl="1">
              <a:lnSpc>
                <a:spcPts val="3499"/>
              </a:lnSpc>
              <a:buFont typeface="Arial"/>
              <a:buChar char="•"/>
            </a:pPr>
            <a:r>
              <a:rPr lang="en-US" sz="2499">
                <a:solidFill>
                  <a:srgbClr val="000000"/>
                </a:solidFill>
                <a:latin typeface="Garet"/>
                <a:ea typeface="Garet"/>
                <a:cs typeface="Garet"/>
                <a:sym typeface="Garet"/>
              </a:rPr>
              <a:t>Ensures that only approved doctors can access clinical operations.</a:t>
            </a:r>
          </a:p>
          <a:p>
            <a:pPr algn="l">
              <a:lnSpc>
                <a:spcPts val="3499"/>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9463469" y="1235328"/>
            <a:ext cx="3698834" cy="8022972"/>
          </a:xfrm>
          <a:custGeom>
            <a:avLst/>
            <a:gdLst/>
            <a:ahLst/>
            <a:cxnLst/>
            <a:rect r="r" b="b" t="t" l="l"/>
            <a:pathLst>
              <a:path h="8022972" w="3698834">
                <a:moveTo>
                  <a:pt x="0" y="0"/>
                </a:moveTo>
                <a:lnTo>
                  <a:pt x="3698834" y="0"/>
                </a:lnTo>
                <a:lnTo>
                  <a:pt x="3698834" y="8022972"/>
                </a:lnTo>
                <a:lnTo>
                  <a:pt x="0" y="8022972"/>
                </a:lnTo>
                <a:lnTo>
                  <a:pt x="0" y="0"/>
                </a:lnTo>
                <a:close/>
              </a:path>
            </a:pathLst>
          </a:custGeom>
          <a:blipFill>
            <a:blip r:embed="rId3"/>
            <a:stretch>
              <a:fillRect l="0" t="0" r="0" b="0"/>
            </a:stretch>
          </a:blipFill>
        </p:spPr>
      </p:sp>
      <p:sp>
        <p:nvSpPr>
          <p:cNvPr name="Freeform 4" id="4"/>
          <p:cNvSpPr/>
          <p:nvPr/>
        </p:nvSpPr>
        <p:spPr>
          <a:xfrm flipH="false" flipV="false" rot="0">
            <a:off x="13646182" y="1235328"/>
            <a:ext cx="3708632" cy="8022972"/>
          </a:xfrm>
          <a:custGeom>
            <a:avLst/>
            <a:gdLst/>
            <a:ahLst/>
            <a:cxnLst/>
            <a:rect r="r" b="b" t="t" l="l"/>
            <a:pathLst>
              <a:path h="8022972" w="3708632">
                <a:moveTo>
                  <a:pt x="0" y="0"/>
                </a:moveTo>
                <a:lnTo>
                  <a:pt x="3708632" y="0"/>
                </a:lnTo>
                <a:lnTo>
                  <a:pt x="3708632" y="8022972"/>
                </a:lnTo>
                <a:lnTo>
                  <a:pt x="0" y="8022972"/>
                </a:lnTo>
                <a:lnTo>
                  <a:pt x="0" y="0"/>
                </a:lnTo>
                <a:close/>
              </a:path>
            </a:pathLst>
          </a:custGeom>
          <a:blipFill>
            <a:blip r:embed="rId4"/>
            <a:stretch>
              <a:fillRect l="0" t="0" r="0" b="0"/>
            </a:stretch>
          </a:blipFill>
        </p:spPr>
      </p:sp>
      <p:sp>
        <p:nvSpPr>
          <p:cNvPr name="Freeform 5" id="5"/>
          <p:cNvSpPr/>
          <p:nvPr/>
        </p:nvSpPr>
        <p:spPr>
          <a:xfrm flipH="false" flipV="false" rot="0">
            <a:off x="9463469" y="1235328"/>
            <a:ext cx="3698834" cy="8022972"/>
          </a:xfrm>
          <a:custGeom>
            <a:avLst/>
            <a:gdLst/>
            <a:ahLst/>
            <a:cxnLst/>
            <a:rect r="r" b="b" t="t" l="l"/>
            <a:pathLst>
              <a:path h="8022972" w="3698834">
                <a:moveTo>
                  <a:pt x="0" y="0"/>
                </a:moveTo>
                <a:lnTo>
                  <a:pt x="3698834" y="0"/>
                </a:lnTo>
                <a:lnTo>
                  <a:pt x="3698834" y="8022972"/>
                </a:lnTo>
                <a:lnTo>
                  <a:pt x="0" y="8022972"/>
                </a:lnTo>
                <a:lnTo>
                  <a:pt x="0" y="0"/>
                </a:lnTo>
                <a:close/>
              </a:path>
            </a:pathLst>
          </a:custGeom>
          <a:blipFill>
            <a:blip r:embed="rId5"/>
            <a:stretch>
              <a:fillRect l="-2464" t="0" r="-2464" b="0"/>
            </a:stretch>
          </a:blipFill>
        </p:spPr>
      </p:sp>
      <p:sp>
        <p:nvSpPr>
          <p:cNvPr name="Freeform 6" id="6"/>
          <p:cNvSpPr/>
          <p:nvPr/>
        </p:nvSpPr>
        <p:spPr>
          <a:xfrm flipH="false" flipV="false" rot="0">
            <a:off x="13646182" y="1235328"/>
            <a:ext cx="3708632" cy="8022972"/>
          </a:xfrm>
          <a:custGeom>
            <a:avLst/>
            <a:gdLst/>
            <a:ahLst/>
            <a:cxnLst/>
            <a:rect r="r" b="b" t="t" l="l"/>
            <a:pathLst>
              <a:path h="8022972" w="3708632">
                <a:moveTo>
                  <a:pt x="0" y="0"/>
                </a:moveTo>
                <a:lnTo>
                  <a:pt x="3708632" y="0"/>
                </a:lnTo>
                <a:lnTo>
                  <a:pt x="3708632" y="8022972"/>
                </a:lnTo>
                <a:lnTo>
                  <a:pt x="0" y="8022972"/>
                </a:lnTo>
                <a:lnTo>
                  <a:pt x="0" y="0"/>
                </a:lnTo>
                <a:close/>
              </a:path>
            </a:pathLst>
          </a:custGeom>
          <a:blipFill>
            <a:blip r:embed="rId6"/>
            <a:stretch>
              <a:fillRect l="-2595" t="0" r="-2595" b="0"/>
            </a:stretch>
          </a:blipFill>
        </p:spPr>
      </p:sp>
      <p:sp>
        <p:nvSpPr>
          <p:cNvPr name="TextBox 7" id="7"/>
          <p:cNvSpPr txBox="true"/>
          <p:nvPr/>
        </p:nvSpPr>
        <p:spPr>
          <a:xfrm rot="0">
            <a:off x="1028700" y="1720096"/>
            <a:ext cx="7664600"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Doctor Registration and Pending Approval </a:t>
            </a:r>
          </a:p>
        </p:txBody>
      </p:sp>
      <p:sp>
        <p:nvSpPr>
          <p:cNvPr name="TextBox 8" id="8"/>
          <p:cNvSpPr txBox="true"/>
          <p:nvPr/>
        </p:nvSpPr>
        <p:spPr>
          <a:xfrm rot="0">
            <a:off x="1028700" y="3924135"/>
            <a:ext cx="7145927" cy="4365625"/>
          </a:xfrm>
          <a:prstGeom prst="rect">
            <a:avLst/>
          </a:prstGeom>
        </p:spPr>
        <p:txBody>
          <a:bodyPr anchor="t" rtlCol="false" tIns="0" lIns="0" bIns="0" rIns="0">
            <a:spAutoFit/>
          </a:bodyPr>
          <a:lstStyle/>
          <a:p>
            <a:pPr algn="l" marL="539746" indent="-269873" lvl="1">
              <a:lnSpc>
                <a:spcPts val="3499"/>
              </a:lnSpc>
              <a:buFont typeface="Arial"/>
              <a:buChar char="•"/>
            </a:pPr>
            <a:r>
              <a:rPr lang="en-US" sz="2499">
                <a:solidFill>
                  <a:srgbClr val="000000"/>
                </a:solidFill>
                <a:latin typeface="Garet"/>
                <a:ea typeface="Garet"/>
                <a:cs typeface="Garet"/>
                <a:sym typeface="Garet"/>
              </a:rPr>
              <a:t>Allows new doctors to register with personal credentials and hospital information.</a:t>
            </a:r>
          </a:p>
          <a:p>
            <a:pPr algn="l">
              <a:lnSpc>
                <a:spcPts val="3499"/>
              </a:lnSpc>
            </a:pPr>
          </a:p>
          <a:p>
            <a:pPr algn="l" marL="539746" indent="-269873" lvl="1">
              <a:lnSpc>
                <a:spcPts val="3499"/>
              </a:lnSpc>
              <a:buFont typeface="Arial"/>
              <a:buChar char="•"/>
            </a:pPr>
            <a:r>
              <a:rPr lang="en-US" sz="2499">
                <a:solidFill>
                  <a:srgbClr val="000000"/>
                </a:solidFill>
                <a:latin typeface="Garet"/>
                <a:ea typeface="Garet"/>
                <a:cs typeface="Garet"/>
                <a:sym typeface="Garet"/>
              </a:rPr>
              <a:t>Links each doctor account to a selected hospital before activation.</a:t>
            </a:r>
          </a:p>
          <a:p>
            <a:pPr algn="l">
              <a:lnSpc>
                <a:spcPts val="3499"/>
              </a:lnSpc>
            </a:pPr>
          </a:p>
          <a:p>
            <a:pPr algn="l" marL="539746" indent="-269873" lvl="1">
              <a:lnSpc>
                <a:spcPts val="3499"/>
              </a:lnSpc>
              <a:buFont typeface="Arial"/>
              <a:buChar char="•"/>
            </a:pPr>
            <a:r>
              <a:rPr lang="en-US" sz="2499">
                <a:solidFill>
                  <a:srgbClr val="000000"/>
                </a:solidFill>
                <a:latin typeface="Garet"/>
                <a:ea typeface="Garet"/>
                <a:cs typeface="Garet"/>
                <a:sym typeface="Garet"/>
              </a:rPr>
              <a:t>Keeps new accounts in pending status until hospital approval is completed.</a:t>
            </a:r>
          </a:p>
          <a:p>
            <a:pPr algn="l">
              <a:lnSpc>
                <a:spcPts val="3499"/>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876282" y="1078930"/>
            <a:ext cx="3752799" cy="8129140"/>
          </a:xfrm>
          <a:custGeom>
            <a:avLst/>
            <a:gdLst/>
            <a:ahLst/>
            <a:cxnLst/>
            <a:rect r="r" b="b" t="t" l="l"/>
            <a:pathLst>
              <a:path h="8129140" w="3752799">
                <a:moveTo>
                  <a:pt x="0" y="0"/>
                </a:moveTo>
                <a:lnTo>
                  <a:pt x="3752799" y="0"/>
                </a:lnTo>
                <a:lnTo>
                  <a:pt x="3752799" y="8129140"/>
                </a:lnTo>
                <a:lnTo>
                  <a:pt x="0" y="8129140"/>
                </a:lnTo>
                <a:lnTo>
                  <a:pt x="0" y="0"/>
                </a:lnTo>
                <a:close/>
              </a:path>
            </a:pathLst>
          </a:custGeom>
          <a:blipFill>
            <a:blip r:embed="rId3"/>
            <a:stretch>
              <a:fillRect l="0" t="0" r="0" b="0"/>
            </a:stretch>
          </a:blipFill>
        </p:spPr>
      </p:sp>
      <p:sp>
        <p:nvSpPr>
          <p:cNvPr name="Freeform 4" id="4"/>
          <p:cNvSpPr/>
          <p:nvPr/>
        </p:nvSpPr>
        <p:spPr>
          <a:xfrm flipH="false" flipV="false" rot="0">
            <a:off x="13658919" y="1078930"/>
            <a:ext cx="3787687" cy="8187051"/>
          </a:xfrm>
          <a:custGeom>
            <a:avLst/>
            <a:gdLst/>
            <a:ahLst/>
            <a:cxnLst/>
            <a:rect r="r" b="b" t="t" l="l"/>
            <a:pathLst>
              <a:path h="8187051" w="3787687">
                <a:moveTo>
                  <a:pt x="0" y="0"/>
                </a:moveTo>
                <a:lnTo>
                  <a:pt x="3787687" y="0"/>
                </a:lnTo>
                <a:lnTo>
                  <a:pt x="3787687" y="8187051"/>
                </a:lnTo>
                <a:lnTo>
                  <a:pt x="0" y="8187051"/>
                </a:lnTo>
                <a:lnTo>
                  <a:pt x="0" y="0"/>
                </a:lnTo>
                <a:close/>
              </a:path>
            </a:pathLst>
          </a:custGeom>
          <a:blipFill>
            <a:blip r:embed="rId4"/>
            <a:stretch>
              <a:fillRect l="0" t="0" r="0" b="0"/>
            </a:stretch>
          </a:blipFill>
        </p:spPr>
      </p:sp>
      <p:sp>
        <p:nvSpPr>
          <p:cNvPr name="Freeform 5" id="5"/>
          <p:cNvSpPr/>
          <p:nvPr/>
        </p:nvSpPr>
        <p:spPr>
          <a:xfrm flipH="false" flipV="false" rot="0">
            <a:off x="876282" y="1078930"/>
            <a:ext cx="3752799" cy="8129140"/>
          </a:xfrm>
          <a:custGeom>
            <a:avLst/>
            <a:gdLst/>
            <a:ahLst/>
            <a:cxnLst/>
            <a:rect r="r" b="b" t="t" l="l"/>
            <a:pathLst>
              <a:path h="8129140" w="3752799">
                <a:moveTo>
                  <a:pt x="0" y="0"/>
                </a:moveTo>
                <a:lnTo>
                  <a:pt x="3752799" y="0"/>
                </a:lnTo>
                <a:lnTo>
                  <a:pt x="3752799" y="8129140"/>
                </a:lnTo>
                <a:lnTo>
                  <a:pt x="0" y="8129140"/>
                </a:lnTo>
                <a:lnTo>
                  <a:pt x="0" y="0"/>
                </a:lnTo>
                <a:close/>
              </a:path>
            </a:pathLst>
          </a:custGeom>
          <a:blipFill>
            <a:blip r:embed="rId5"/>
            <a:stretch>
              <a:fillRect l="-2258" t="0" r="-2258" b="0"/>
            </a:stretch>
          </a:blipFill>
        </p:spPr>
      </p:sp>
      <p:sp>
        <p:nvSpPr>
          <p:cNvPr name="Freeform 6" id="6"/>
          <p:cNvSpPr/>
          <p:nvPr/>
        </p:nvSpPr>
        <p:spPr>
          <a:xfrm flipH="false" flipV="false" rot="0">
            <a:off x="13658919" y="1078930"/>
            <a:ext cx="3787687" cy="8179370"/>
          </a:xfrm>
          <a:custGeom>
            <a:avLst/>
            <a:gdLst/>
            <a:ahLst/>
            <a:cxnLst/>
            <a:rect r="r" b="b" t="t" l="l"/>
            <a:pathLst>
              <a:path h="8179370" w="3787687">
                <a:moveTo>
                  <a:pt x="0" y="0"/>
                </a:moveTo>
                <a:lnTo>
                  <a:pt x="3787687" y="0"/>
                </a:lnTo>
                <a:lnTo>
                  <a:pt x="3787687" y="8179370"/>
                </a:lnTo>
                <a:lnTo>
                  <a:pt x="0" y="8179370"/>
                </a:lnTo>
                <a:lnTo>
                  <a:pt x="0" y="0"/>
                </a:lnTo>
                <a:close/>
              </a:path>
            </a:pathLst>
          </a:custGeom>
          <a:blipFill>
            <a:blip r:embed="rId6"/>
            <a:stretch>
              <a:fillRect l="-2771" t="0" r="-2771" b="0"/>
            </a:stretch>
          </a:blipFill>
        </p:spPr>
      </p:sp>
      <p:sp>
        <p:nvSpPr>
          <p:cNvPr name="TextBox 7" id="7"/>
          <p:cNvSpPr txBox="true"/>
          <p:nvPr/>
        </p:nvSpPr>
        <p:spPr>
          <a:xfrm rot="0">
            <a:off x="5136405" y="1426180"/>
            <a:ext cx="8007440" cy="225255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Hospital Authentication and Doctor Approval</a:t>
            </a:r>
          </a:p>
        </p:txBody>
      </p:sp>
      <p:sp>
        <p:nvSpPr>
          <p:cNvPr name="TextBox 8" id="8"/>
          <p:cNvSpPr txBox="true"/>
          <p:nvPr/>
        </p:nvSpPr>
        <p:spPr>
          <a:xfrm rot="0">
            <a:off x="4981506" y="3632940"/>
            <a:ext cx="8324988" cy="3749040"/>
          </a:xfrm>
          <a:prstGeom prst="rect">
            <a:avLst/>
          </a:prstGeom>
        </p:spPr>
        <p:txBody>
          <a:bodyPr anchor="t" rtlCol="false" tIns="0" lIns="0" bIns="0" rIns="0">
            <a:spAutoFit/>
          </a:bodyPr>
          <a:lstStyle/>
          <a:p>
            <a:pPr algn="l" marL="518157" indent="-259078" lvl="1">
              <a:lnSpc>
                <a:spcPts val="3359"/>
              </a:lnSpc>
              <a:buFont typeface="Arial"/>
              <a:buChar char="•"/>
            </a:pPr>
            <a:r>
              <a:rPr lang="en-US" sz="2399">
                <a:solidFill>
                  <a:srgbClr val="000000"/>
                </a:solidFill>
                <a:latin typeface="Garet"/>
                <a:ea typeface="Garet"/>
                <a:cs typeface="Garet"/>
                <a:sym typeface="Garet"/>
              </a:rPr>
              <a:t>Hospital administrators log in through a separate panel. </a:t>
            </a:r>
          </a:p>
          <a:p>
            <a:pPr algn="l">
              <a:lnSpc>
                <a:spcPts val="3359"/>
              </a:lnSpc>
            </a:pPr>
          </a:p>
          <a:p>
            <a:pPr algn="l" marL="518157" indent="-259078" lvl="1">
              <a:lnSpc>
                <a:spcPts val="3359"/>
              </a:lnSpc>
              <a:buFont typeface="Arial"/>
              <a:buChar char="•"/>
            </a:pPr>
            <a:r>
              <a:rPr lang="en-US" sz="2399">
                <a:solidFill>
                  <a:srgbClr val="000000"/>
                </a:solidFill>
                <a:latin typeface="Garet"/>
                <a:ea typeface="Garet"/>
                <a:cs typeface="Garet"/>
                <a:sym typeface="Garet"/>
              </a:rPr>
              <a:t>Pending doctor applications are listed according to the selected hospital. </a:t>
            </a:r>
          </a:p>
          <a:p>
            <a:pPr algn="l">
              <a:lnSpc>
                <a:spcPts val="3359"/>
              </a:lnSpc>
            </a:pPr>
          </a:p>
          <a:p>
            <a:pPr algn="l" marL="518157" indent="-259078" lvl="1">
              <a:lnSpc>
                <a:spcPts val="3359"/>
              </a:lnSpc>
              <a:buFont typeface="Arial"/>
              <a:buChar char="•"/>
            </a:pPr>
            <a:r>
              <a:rPr lang="en-US" sz="2399">
                <a:solidFill>
                  <a:srgbClr val="000000"/>
                </a:solidFill>
                <a:latin typeface="Garet"/>
                <a:ea typeface="Garet"/>
                <a:cs typeface="Garet"/>
                <a:sym typeface="Garet"/>
              </a:rPr>
              <a:t>Approved doctors become authorized users and can access the clinical dashboard.</a:t>
            </a:r>
          </a:p>
          <a:p>
            <a:pPr algn="l">
              <a:lnSpc>
                <a:spcPts val="3359"/>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9463469" y="1235328"/>
            <a:ext cx="3698834" cy="8022972"/>
          </a:xfrm>
          <a:custGeom>
            <a:avLst/>
            <a:gdLst/>
            <a:ahLst/>
            <a:cxnLst/>
            <a:rect r="r" b="b" t="t" l="l"/>
            <a:pathLst>
              <a:path h="8022972" w="3698834">
                <a:moveTo>
                  <a:pt x="0" y="0"/>
                </a:moveTo>
                <a:lnTo>
                  <a:pt x="3698834" y="0"/>
                </a:lnTo>
                <a:lnTo>
                  <a:pt x="3698834" y="8022972"/>
                </a:lnTo>
                <a:lnTo>
                  <a:pt x="0" y="8022972"/>
                </a:lnTo>
                <a:lnTo>
                  <a:pt x="0" y="0"/>
                </a:lnTo>
                <a:close/>
              </a:path>
            </a:pathLst>
          </a:custGeom>
          <a:blipFill>
            <a:blip r:embed="rId3"/>
            <a:stretch>
              <a:fillRect l="0" t="0" r="0" b="0"/>
            </a:stretch>
          </a:blipFill>
        </p:spPr>
      </p:sp>
      <p:sp>
        <p:nvSpPr>
          <p:cNvPr name="Freeform 4" id="4"/>
          <p:cNvSpPr/>
          <p:nvPr/>
        </p:nvSpPr>
        <p:spPr>
          <a:xfrm flipH="false" flipV="false" rot="0">
            <a:off x="13646182" y="1235328"/>
            <a:ext cx="3708632" cy="8022972"/>
          </a:xfrm>
          <a:custGeom>
            <a:avLst/>
            <a:gdLst/>
            <a:ahLst/>
            <a:cxnLst/>
            <a:rect r="r" b="b" t="t" l="l"/>
            <a:pathLst>
              <a:path h="8022972" w="3708632">
                <a:moveTo>
                  <a:pt x="0" y="0"/>
                </a:moveTo>
                <a:lnTo>
                  <a:pt x="3708632" y="0"/>
                </a:lnTo>
                <a:lnTo>
                  <a:pt x="3708632" y="8022972"/>
                </a:lnTo>
                <a:lnTo>
                  <a:pt x="0" y="8022972"/>
                </a:lnTo>
                <a:lnTo>
                  <a:pt x="0" y="0"/>
                </a:lnTo>
                <a:close/>
              </a:path>
            </a:pathLst>
          </a:custGeom>
          <a:blipFill>
            <a:blip r:embed="rId4"/>
            <a:stretch>
              <a:fillRect l="0" t="0" r="0" b="0"/>
            </a:stretch>
          </a:blipFill>
        </p:spPr>
      </p:sp>
      <p:sp>
        <p:nvSpPr>
          <p:cNvPr name="TextBox 5" id="5"/>
          <p:cNvSpPr txBox="true"/>
          <p:nvPr/>
        </p:nvSpPr>
        <p:spPr>
          <a:xfrm rot="0">
            <a:off x="1028700" y="1720096"/>
            <a:ext cx="7664600"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Clinical Workflow and Patient Management </a:t>
            </a:r>
          </a:p>
        </p:txBody>
      </p:sp>
      <p:sp>
        <p:nvSpPr>
          <p:cNvPr name="TextBox 6" id="6"/>
          <p:cNvSpPr txBox="true"/>
          <p:nvPr/>
        </p:nvSpPr>
        <p:spPr>
          <a:xfrm rot="0">
            <a:off x="1028700" y="3924135"/>
            <a:ext cx="7145927" cy="4365625"/>
          </a:xfrm>
          <a:prstGeom prst="rect">
            <a:avLst/>
          </a:prstGeom>
        </p:spPr>
        <p:txBody>
          <a:bodyPr anchor="t" rtlCol="false" tIns="0" lIns="0" bIns="0" rIns="0">
            <a:spAutoFit/>
          </a:bodyPr>
          <a:lstStyle/>
          <a:p>
            <a:pPr algn="l" marL="539746" indent="-269873" lvl="1">
              <a:lnSpc>
                <a:spcPts val="3499"/>
              </a:lnSpc>
              <a:buFont typeface="Arial"/>
              <a:buChar char="•"/>
            </a:pPr>
            <a:r>
              <a:rPr lang="en-US" sz="2499">
                <a:solidFill>
                  <a:srgbClr val="000000"/>
                </a:solidFill>
                <a:latin typeface="Garet"/>
                <a:ea typeface="Garet"/>
                <a:cs typeface="Garet"/>
                <a:sym typeface="Garet"/>
              </a:rPr>
              <a:t>Structured mobile interface designed for real-world hospital environments. </a:t>
            </a:r>
          </a:p>
          <a:p>
            <a:pPr algn="l">
              <a:lnSpc>
                <a:spcPts val="3499"/>
              </a:lnSpc>
            </a:pPr>
          </a:p>
          <a:p>
            <a:pPr algn="l" marL="539746" indent="-269873" lvl="1">
              <a:lnSpc>
                <a:spcPts val="3499"/>
              </a:lnSpc>
              <a:buFont typeface="Arial"/>
              <a:buChar char="•"/>
            </a:pPr>
            <a:r>
              <a:rPr lang="en-US" sz="2499">
                <a:solidFill>
                  <a:srgbClr val="000000"/>
                </a:solidFill>
                <a:latin typeface="Garet"/>
                <a:ea typeface="Garet"/>
                <a:cs typeface="Garet"/>
                <a:sym typeface="Garet"/>
              </a:rPr>
              <a:t>Secure patient selection and registration module linked to unique Protocol IDs. </a:t>
            </a:r>
          </a:p>
          <a:p>
            <a:pPr algn="l">
              <a:lnSpc>
                <a:spcPts val="3499"/>
              </a:lnSpc>
            </a:pPr>
          </a:p>
          <a:p>
            <a:pPr algn="l" marL="539746" indent="-269873" lvl="1">
              <a:lnSpc>
                <a:spcPts val="3499"/>
              </a:lnSpc>
              <a:buFont typeface="Arial"/>
              <a:buChar char="•"/>
            </a:pPr>
            <a:r>
              <a:rPr lang="en-US" sz="2499">
                <a:solidFill>
                  <a:srgbClr val="000000"/>
                </a:solidFill>
                <a:latin typeface="Garet"/>
                <a:ea typeface="Garet"/>
                <a:cs typeface="Garet"/>
                <a:sym typeface="Garet"/>
              </a:rPr>
              <a:t>Provides a foundation for longitudinal medical tracking and data integrity.</a:t>
            </a:r>
          </a:p>
          <a:p>
            <a:pPr algn="l">
              <a:lnSpc>
                <a:spcPts val="3499"/>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876282" y="1078930"/>
            <a:ext cx="3752799" cy="8129140"/>
          </a:xfrm>
          <a:custGeom>
            <a:avLst/>
            <a:gdLst/>
            <a:ahLst/>
            <a:cxnLst/>
            <a:rect r="r" b="b" t="t" l="l"/>
            <a:pathLst>
              <a:path h="8129140" w="3752799">
                <a:moveTo>
                  <a:pt x="0" y="0"/>
                </a:moveTo>
                <a:lnTo>
                  <a:pt x="3752799" y="0"/>
                </a:lnTo>
                <a:lnTo>
                  <a:pt x="3752799" y="8129140"/>
                </a:lnTo>
                <a:lnTo>
                  <a:pt x="0" y="8129140"/>
                </a:lnTo>
                <a:lnTo>
                  <a:pt x="0" y="0"/>
                </a:lnTo>
                <a:close/>
              </a:path>
            </a:pathLst>
          </a:custGeom>
          <a:blipFill>
            <a:blip r:embed="rId3"/>
            <a:stretch>
              <a:fillRect l="0" t="0" r="0" b="0"/>
            </a:stretch>
          </a:blipFill>
        </p:spPr>
      </p:sp>
      <p:sp>
        <p:nvSpPr>
          <p:cNvPr name="Freeform 4" id="4"/>
          <p:cNvSpPr/>
          <p:nvPr/>
        </p:nvSpPr>
        <p:spPr>
          <a:xfrm flipH="false" flipV="false" rot="0">
            <a:off x="13658919" y="1078930"/>
            <a:ext cx="3787687" cy="8187051"/>
          </a:xfrm>
          <a:custGeom>
            <a:avLst/>
            <a:gdLst/>
            <a:ahLst/>
            <a:cxnLst/>
            <a:rect r="r" b="b" t="t" l="l"/>
            <a:pathLst>
              <a:path h="8187051" w="3787687">
                <a:moveTo>
                  <a:pt x="0" y="0"/>
                </a:moveTo>
                <a:lnTo>
                  <a:pt x="3787687" y="0"/>
                </a:lnTo>
                <a:lnTo>
                  <a:pt x="3787687" y="8187051"/>
                </a:lnTo>
                <a:lnTo>
                  <a:pt x="0" y="8187051"/>
                </a:lnTo>
                <a:lnTo>
                  <a:pt x="0" y="0"/>
                </a:lnTo>
                <a:close/>
              </a:path>
            </a:pathLst>
          </a:custGeom>
          <a:blipFill>
            <a:blip r:embed="rId4"/>
            <a:stretch>
              <a:fillRect l="0" t="0" r="0" b="0"/>
            </a:stretch>
          </a:blipFill>
        </p:spPr>
      </p:sp>
      <p:sp>
        <p:nvSpPr>
          <p:cNvPr name="TextBox 5" id="5"/>
          <p:cNvSpPr txBox="true"/>
          <p:nvPr/>
        </p:nvSpPr>
        <p:spPr>
          <a:xfrm rot="0">
            <a:off x="5136405" y="1426180"/>
            <a:ext cx="8007440"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Real-Time Processing and Explainable AI</a:t>
            </a:r>
          </a:p>
        </p:txBody>
      </p:sp>
      <p:sp>
        <p:nvSpPr>
          <p:cNvPr name="TextBox 6" id="6"/>
          <p:cNvSpPr txBox="true"/>
          <p:nvPr/>
        </p:nvSpPr>
        <p:spPr>
          <a:xfrm rot="0">
            <a:off x="4981506" y="3632940"/>
            <a:ext cx="8324988" cy="5006340"/>
          </a:xfrm>
          <a:prstGeom prst="rect">
            <a:avLst/>
          </a:prstGeom>
        </p:spPr>
        <p:txBody>
          <a:bodyPr anchor="t" rtlCol="false" tIns="0" lIns="0" bIns="0" rIns="0">
            <a:spAutoFit/>
          </a:bodyPr>
          <a:lstStyle/>
          <a:p>
            <a:pPr algn="l" marL="518157" indent="-259078" lvl="1">
              <a:lnSpc>
                <a:spcPts val="3359"/>
              </a:lnSpc>
              <a:buFont typeface="Arial"/>
              <a:buChar char="•"/>
            </a:pPr>
            <a:r>
              <a:rPr lang="en-US" sz="2399">
                <a:solidFill>
                  <a:srgbClr val="000000"/>
                </a:solidFill>
                <a:latin typeface="Garet"/>
                <a:ea typeface="Garet"/>
                <a:cs typeface="Garet"/>
                <a:sym typeface="Garet"/>
              </a:rPr>
              <a:t>The application executes an asynchronous request to the backend server where the deep learning architecture processes the X-ray.  </a:t>
            </a:r>
          </a:p>
          <a:p>
            <a:pPr algn="l">
              <a:lnSpc>
                <a:spcPts val="3359"/>
              </a:lnSpc>
            </a:pPr>
          </a:p>
          <a:p>
            <a:pPr algn="l" marL="518157" indent="-259078" lvl="1">
              <a:lnSpc>
                <a:spcPts val="3359"/>
              </a:lnSpc>
              <a:buFont typeface="Arial"/>
              <a:buChar char="•"/>
            </a:pPr>
            <a:r>
              <a:rPr lang="en-US" sz="2399">
                <a:solidFill>
                  <a:srgbClr val="000000"/>
                </a:solidFill>
                <a:latin typeface="Garet"/>
                <a:ea typeface="Garet"/>
                <a:cs typeface="Garet"/>
                <a:sym typeface="Garet"/>
              </a:rPr>
              <a:t>The interface provides real-time status updates, such as the "Analyzing..." state, to mitigate user uncertainty during the high-computational phase.  </a:t>
            </a:r>
          </a:p>
          <a:p>
            <a:pPr algn="l">
              <a:lnSpc>
                <a:spcPts val="3359"/>
              </a:lnSpc>
            </a:pPr>
          </a:p>
          <a:p>
            <a:pPr algn="l" marL="518157" indent="-259078" lvl="1">
              <a:lnSpc>
                <a:spcPts val="3359"/>
              </a:lnSpc>
              <a:buFont typeface="Arial"/>
              <a:buChar char="•"/>
            </a:pPr>
            <a:r>
              <a:rPr lang="en-US" sz="2399">
                <a:solidFill>
                  <a:srgbClr val="000000"/>
                </a:solidFill>
                <a:latin typeface="Garet"/>
                <a:ea typeface="Garet"/>
                <a:cs typeface="Garet"/>
                <a:sym typeface="Garet"/>
              </a:rPr>
              <a:t>Explainable AI (XAI) provides diagnostic visualization with disease contours. </a:t>
            </a:r>
          </a:p>
          <a:p>
            <a:pPr algn="l">
              <a:lnSpc>
                <a:spcPts val="3359"/>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9460418" y="1250720"/>
            <a:ext cx="3699040" cy="8007580"/>
          </a:xfrm>
          <a:custGeom>
            <a:avLst/>
            <a:gdLst/>
            <a:ahLst/>
            <a:cxnLst/>
            <a:rect r="r" b="b" t="t" l="l"/>
            <a:pathLst>
              <a:path h="8007580" w="3699040">
                <a:moveTo>
                  <a:pt x="0" y="0"/>
                </a:moveTo>
                <a:lnTo>
                  <a:pt x="3699040" y="0"/>
                </a:lnTo>
                <a:lnTo>
                  <a:pt x="3699040" y="8007580"/>
                </a:lnTo>
                <a:lnTo>
                  <a:pt x="0" y="8007580"/>
                </a:lnTo>
                <a:lnTo>
                  <a:pt x="0" y="0"/>
                </a:lnTo>
                <a:close/>
              </a:path>
            </a:pathLst>
          </a:custGeom>
          <a:blipFill>
            <a:blip r:embed="rId3"/>
            <a:stretch>
              <a:fillRect l="0" t="0" r="0" b="0"/>
            </a:stretch>
          </a:blipFill>
        </p:spPr>
      </p:sp>
      <p:sp>
        <p:nvSpPr>
          <p:cNvPr name="Freeform 4" id="4"/>
          <p:cNvSpPr/>
          <p:nvPr/>
        </p:nvSpPr>
        <p:spPr>
          <a:xfrm flipH="false" flipV="false" rot="0">
            <a:off x="13710567" y="1250720"/>
            <a:ext cx="3699040" cy="8007580"/>
          </a:xfrm>
          <a:custGeom>
            <a:avLst/>
            <a:gdLst/>
            <a:ahLst/>
            <a:cxnLst/>
            <a:rect r="r" b="b" t="t" l="l"/>
            <a:pathLst>
              <a:path h="8007580" w="3699040">
                <a:moveTo>
                  <a:pt x="0" y="0"/>
                </a:moveTo>
                <a:lnTo>
                  <a:pt x="3699040" y="0"/>
                </a:lnTo>
                <a:lnTo>
                  <a:pt x="3699040" y="8007580"/>
                </a:lnTo>
                <a:lnTo>
                  <a:pt x="0" y="8007580"/>
                </a:lnTo>
                <a:lnTo>
                  <a:pt x="0" y="0"/>
                </a:lnTo>
                <a:close/>
              </a:path>
            </a:pathLst>
          </a:custGeom>
          <a:blipFill>
            <a:blip r:embed="rId4"/>
            <a:stretch>
              <a:fillRect l="0" t="0" r="0" b="0"/>
            </a:stretch>
          </a:blipFill>
        </p:spPr>
      </p:sp>
      <p:sp>
        <p:nvSpPr>
          <p:cNvPr name="TextBox 5" id="5"/>
          <p:cNvSpPr txBox="true"/>
          <p:nvPr/>
        </p:nvSpPr>
        <p:spPr>
          <a:xfrm rot="0">
            <a:off x="751563" y="1345970"/>
            <a:ext cx="8007440" cy="225255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Seamless Diagnostic Reporting and Record Management</a:t>
            </a:r>
          </a:p>
        </p:txBody>
      </p:sp>
      <p:sp>
        <p:nvSpPr>
          <p:cNvPr name="TextBox 6" id="6"/>
          <p:cNvSpPr txBox="true"/>
          <p:nvPr/>
        </p:nvSpPr>
        <p:spPr>
          <a:xfrm rot="0">
            <a:off x="592789" y="4201061"/>
            <a:ext cx="8324988" cy="5006340"/>
          </a:xfrm>
          <a:prstGeom prst="rect">
            <a:avLst/>
          </a:prstGeom>
        </p:spPr>
        <p:txBody>
          <a:bodyPr anchor="t" rtlCol="false" tIns="0" lIns="0" bIns="0" rIns="0">
            <a:spAutoFit/>
          </a:bodyPr>
          <a:lstStyle/>
          <a:p>
            <a:pPr algn="l" marL="518157" indent="-259078" lvl="1">
              <a:lnSpc>
                <a:spcPts val="3359"/>
              </a:lnSpc>
              <a:buFont typeface="Arial"/>
              <a:buChar char="•"/>
            </a:pPr>
            <a:r>
              <a:rPr lang="en-US" sz="2399">
                <a:solidFill>
                  <a:srgbClr val="000000"/>
                </a:solidFill>
                <a:latin typeface="Garet"/>
                <a:ea typeface="Garet"/>
                <a:cs typeface="Garet"/>
                <a:sym typeface="Garet"/>
              </a:rPr>
              <a:t>The interface transforms complex data into a streamlined reporting workflow, allowing the physician to finalize a diagnosis with minimal effort. </a:t>
            </a:r>
          </a:p>
          <a:p>
            <a:pPr algn="l">
              <a:lnSpc>
                <a:spcPts val="3359"/>
              </a:lnSpc>
            </a:pPr>
          </a:p>
          <a:p>
            <a:pPr algn="l" marL="518157" indent="-259078" lvl="1">
              <a:lnSpc>
                <a:spcPts val="3359"/>
              </a:lnSpc>
              <a:buFont typeface="Arial"/>
              <a:buChar char="•"/>
            </a:pPr>
            <a:r>
              <a:rPr lang="en-US" sz="2399">
                <a:solidFill>
                  <a:srgbClr val="000000"/>
                </a:solidFill>
                <a:latin typeface="Garet"/>
                <a:ea typeface="Garet"/>
                <a:cs typeface="Garet"/>
                <a:sym typeface="Garet"/>
              </a:rPr>
              <a:t>Doctors can easily review results, add clinical notes, and generate formalized reports directly within the application. </a:t>
            </a:r>
          </a:p>
          <a:p>
            <a:pPr algn="l">
              <a:lnSpc>
                <a:spcPts val="3359"/>
              </a:lnSpc>
            </a:pPr>
          </a:p>
          <a:p>
            <a:pPr algn="l" marL="518157" indent="-259078" lvl="1">
              <a:lnSpc>
                <a:spcPts val="3359"/>
              </a:lnSpc>
              <a:spcBef>
                <a:spcPct val="0"/>
              </a:spcBef>
              <a:buFont typeface="Arial"/>
              <a:buChar char="•"/>
            </a:pPr>
            <a:r>
              <a:rPr lang="en-US" sz="2399">
                <a:solidFill>
                  <a:srgbClr val="000000"/>
                </a:solidFill>
                <a:latin typeface="Garet"/>
                <a:ea typeface="Garet"/>
                <a:cs typeface="Garet"/>
                <a:sym typeface="Garet"/>
              </a:rPr>
              <a:t>Reports are instantly synchronized with the patient's profile, facilitating quick access to historical diagnoses.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734595" y="1028700"/>
            <a:ext cx="3799129" cy="8229600"/>
          </a:xfrm>
          <a:custGeom>
            <a:avLst/>
            <a:gdLst/>
            <a:ahLst/>
            <a:cxnLst/>
            <a:rect r="r" b="b" t="t" l="l"/>
            <a:pathLst>
              <a:path h="8229600" w="3799129">
                <a:moveTo>
                  <a:pt x="0" y="0"/>
                </a:moveTo>
                <a:lnTo>
                  <a:pt x="3799129" y="0"/>
                </a:lnTo>
                <a:lnTo>
                  <a:pt x="3799129"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5130976" y="1028700"/>
            <a:ext cx="3799129" cy="8229600"/>
          </a:xfrm>
          <a:custGeom>
            <a:avLst/>
            <a:gdLst/>
            <a:ahLst/>
            <a:cxnLst/>
            <a:rect r="r" b="b" t="t" l="l"/>
            <a:pathLst>
              <a:path h="8229600" w="3799129">
                <a:moveTo>
                  <a:pt x="0" y="0"/>
                </a:moveTo>
                <a:lnTo>
                  <a:pt x="3799129" y="0"/>
                </a:lnTo>
                <a:lnTo>
                  <a:pt x="3799129" y="8229600"/>
                </a:lnTo>
                <a:lnTo>
                  <a:pt x="0" y="8229600"/>
                </a:lnTo>
                <a:lnTo>
                  <a:pt x="0" y="0"/>
                </a:lnTo>
                <a:close/>
              </a:path>
            </a:pathLst>
          </a:custGeom>
          <a:blipFill>
            <a:blip r:embed="rId4"/>
            <a:stretch>
              <a:fillRect l="0" t="0" r="0" b="0"/>
            </a:stretch>
          </a:blipFill>
        </p:spPr>
      </p:sp>
      <p:sp>
        <p:nvSpPr>
          <p:cNvPr name="TextBox 5" id="5"/>
          <p:cNvSpPr txBox="true"/>
          <p:nvPr/>
        </p:nvSpPr>
        <p:spPr>
          <a:xfrm rot="0">
            <a:off x="9530180" y="1123950"/>
            <a:ext cx="8217669" cy="2252554"/>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Integrated Digital Archiving and Diagnostic History</a:t>
            </a:r>
          </a:p>
        </p:txBody>
      </p:sp>
      <p:sp>
        <p:nvSpPr>
          <p:cNvPr name="TextBox 6" id="6"/>
          <p:cNvSpPr txBox="true"/>
          <p:nvPr/>
        </p:nvSpPr>
        <p:spPr>
          <a:xfrm rot="0">
            <a:off x="9343022" y="3578225"/>
            <a:ext cx="8217669" cy="5680075"/>
          </a:xfrm>
          <a:prstGeom prst="rect">
            <a:avLst/>
          </a:prstGeom>
        </p:spPr>
        <p:txBody>
          <a:bodyPr anchor="t" rtlCol="false" tIns="0" lIns="0" bIns="0" rIns="0">
            <a:spAutoFit/>
          </a:bodyPr>
          <a:lstStyle/>
          <a:p>
            <a:pPr algn="l" marL="539746" indent="-269873" lvl="1">
              <a:lnSpc>
                <a:spcPts val="3499"/>
              </a:lnSpc>
              <a:buFont typeface="Arial"/>
              <a:buChar char="•"/>
            </a:pPr>
            <a:r>
              <a:rPr lang="en-US" sz="2499">
                <a:solidFill>
                  <a:srgbClr val="000000"/>
                </a:solidFill>
                <a:latin typeface="Garet"/>
                <a:ea typeface="Garet"/>
                <a:cs typeface="Garet"/>
                <a:sym typeface="Garet"/>
              </a:rPr>
              <a:t>Centralizes all diagnostic activities for long-term patient management within a robust archiving system.</a:t>
            </a:r>
          </a:p>
          <a:p>
            <a:pPr algn="l">
              <a:lnSpc>
                <a:spcPts val="3499"/>
              </a:lnSpc>
            </a:pPr>
          </a:p>
          <a:p>
            <a:pPr algn="l" marL="539746" indent="-269873" lvl="1">
              <a:lnSpc>
                <a:spcPts val="3499"/>
              </a:lnSpc>
              <a:buFont typeface="Arial"/>
              <a:buChar char="•"/>
            </a:pPr>
            <a:r>
              <a:rPr lang="en-US" sz="2499">
                <a:solidFill>
                  <a:srgbClr val="000000"/>
                </a:solidFill>
                <a:latin typeface="Garet"/>
                <a:ea typeface="Garet"/>
                <a:cs typeface="Garet"/>
                <a:sym typeface="Garet"/>
              </a:rPr>
              <a:t>The "Patient Archive" allows physicians to toggle between raw X-ray results and finalized medical reports.</a:t>
            </a:r>
          </a:p>
          <a:p>
            <a:pPr algn="l">
              <a:lnSpc>
                <a:spcPts val="3499"/>
              </a:lnSpc>
            </a:pPr>
          </a:p>
          <a:p>
            <a:pPr algn="l" marL="539746" indent="-269873" lvl="1">
              <a:lnSpc>
                <a:spcPts val="3499"/>
              </a:lnSpc>
              <a:buFont typeface="Arial"/>
              <a:buChar char="•"/>
            </a:pPr>
            <a:r>
              <a:rPr lang="en-US" sz="2499">
                <a:solidFill>
                  <a:srgbClr val="000000"/>
                </a:solidFill>
                <a:latin typeface="Garet"/>
                <a:ea typeface="Garet"/>
                <a:cs typeface="Garet"/>
                <a:sym typeface="Garet"/>
              </a:rPr>
              <a:t>Dashboard featuring "Recent Analyses" provides high visual clarity with color-coded status indicators (Red for findings, Green for normal).</a:t>
            </a:r>
          </a:p>
          <a:p>
            <a:pPr algn="l">
              <a:lnSpc>
                <a:spcPts val="3499"/>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7203393"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TİGA Feedback &amp; Evaluation</a:t>
            </a:r>
          </a:p>
        </p:txBody>
      </p:sp>
      <p:sp>
        <p:nvSpPr>
          <p:cNvPr name="TextBox 6" id="6"/>
          <p:cNvSpPr txBox="true"/>
          <p:nvPr/>
        </p:nvSpPr>
        <p:spPr>
          <a:xfrm rot="0">
            <a:off x="1028700" y="3265170"/>
            <a:ext cx="14289080" cy="3709035"/>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Du</a:t>
            </a:r>
            <a:r>
              <a:rPr lang="en-US" sz="2099">
                <a:solidFill>
                  <a:srgbClr val="000000"/>
                </a:solidFill>
                <a:latin typeface="Garet"/>
                <a:ea typeface="Garet"/>
                <a:cs typeface="Garet"/>
                <a:sym typeface="Garet"/>
              </a:rPr>
              <a:t>ring the TIGA evaluation process, valuable feedback was received regarding both the technical and usability aspects of the project.</a:t>
            </a:r>
          </a:p>
          <a:p>
            <a:pPr algn="l">
              <a:lnSpc>
                <a:spcPts val="2939"/>
              </a:lnSpc>
              <a:spcBef>
                <a:spcPct val="0"/>
              </a:spcBef>
            </a:pPr>
            <a:r>
              <a:rPr lang="en-US" sz="2099">
                <a:solidFill>
                  <a:srgbClr val="000000"/>
                </a:solidFill>
                <a:latin typeface="Garet"/>
                <a:ea typeface="Garet"/>
                <a:cs typeface="Garet"/>
                <a:sym typeface="Garet"/>
              </a:rPr>
              <a:t>Main recommendations included:</a:t>
            </a:r>
          </a:p>
          <a:p>
            <a:pPr algn="l">
              <a:lnSpc>
                <a:spcPts val="2939"/>
              </a:lnSpc>
              <a:spcBef>
                <a:spcPct val="0"/>
              </a:spcBef>
            </a:pPr>
            <a:r>
              <a:rPr lang="en-US" sz="2099">
                <a:solidFill>
                  <a:srgbClr val="000000"/>
                </a:solidFill>
                <a:latin typeface="Garet"/>
                <a:ea typeface="Garet"/>
                <a:cs typeface="Garet"/>
                <a:sym typeface="Garet"/>
              </a:rPr>
              <a:t>• Improving the explainability component to provide more intuitive visual outputs.</a:t>
            </a:r>
          </a:p>
          <a:p>
            <a:pPr algn="l">
              <a:lnSpc>
                <a:spcPts val="2939"/>
              </a:lnSpc>
              <a:spcBef>
                <a:spcPct val="0"/>
              </a:spcBef>
            </a:pPr>
            <a:r>
              <a:rPr lang="en-US" sz="2099">
                <a:solidFill>
                  <a:srgbClr val="000000"/>
                </a:solidFill>
                <a:latin typeface="Garet"/>
                <a:ea typeface="Garet"/>
                <a:cs typeface="Garet"/>
                <a:sym typeface="Garet"/>
              </a:rPr>
              <a:t>• Enhancing class imbalance handling for rare thoracic diseases.</a:t>
            </a:r>
          </a:p>
          <a:p>
            <a:pPr algn="l">
              <a:lnSpc>
                <a:spcPts val="2939"/>
              </a:lnSpc>
              <a:spcBef>
                <a:spcPct val="0"/>
              </a:spcBef>
            </a:pPr>
            <a:r>
              <a:rPr lang="en-US" sz="2099">
                <a:solidFill>
                  <a:srgbClr val="000000"/>
                </a:solidFill>
                <a:latin typeface="Garet"/>
                <a:ea typeface="Garet"/>
                <a:cs typeface="Garet"/>
                <a:sym typeface="Garet"/>
              </a:rPr>
              <a:t>• Strengthening the integration between the AI model and the mobile application.</a:t>
            </a:r>
          </a:p>
          <a:p>
            <a:pPr algn="l">
              <a:lnSpc>
                <a:spcPts val="2939"/>
              </a:lnSpc>
              <a:spcBef>
                <a:spcPct val="0"/>
              </a:spcBef>
            </a:pPr>
            <a:r>
              <a:rPr lang="en-US" sz="2099">
                <a:solidFill>
                  <a:srgbClr val="000000"/>
                </a:solidFill>
                <a:latin typeface="Garet"/>
                <a:ea typeface="Garet"/>
                <a:cs typeface="Garet"/>
                <a:sym typeface="Garet"/>
              </a:rPr>
              <a:t>• Expanding the security and patient management features of the backend system.</a:t>
            </a:r>
          </a:p>
          <a:p>
            <a:pPr algn="l">
              <a:lnSpc>
                <a:spcPts val="2939"/>
              </a:lnSpc>
              <a:spcBef>
                <a:spcPct val="0"/>
              </a:spcBef>
            </a:pPr>
            <a:r>
              <a:rPr lang="en-US" sz="2099">
                <a:solidFill>
                  <a:srgbClr val="000000"/>
                </a:solidFill>
                <a:latin typeface="Garet"/>
                <a:ea typeface="Garet"/>
                <a:cs typeface="Garet"/>
                <a:sym typeface="Garet"/>
              </a:rPr>
              <a:t>These recommendations guided the final development phase and contributed to the overall quality of the project.</a:t>
            </a:r>
          </a:p>
          <a:p>
            <a:pPr algn="l">
              <a:lnSpc>
                <a:spcPts val="2939"/>
              </a:lnSpc>
              <a:spcBef>
                <a:spcPct val="0"/>
              </a:spcBef>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1123950"/>
            <a:ext cx="7203393" cy="1519129"/>
          </a:xfrm>
          <a:prstGeom prst="rect">
            <a:avLst/>
          </a:prstGeom>
        </p:spPr>
        <p:txBody>
          <a:bodyPr anchor="t" rtlCol="false" tIns="0" lIns="0" bIns="0" rIns="0">
            <a:spAutoFit/>
          </a:bodyPr>
          <a:lstStyle/>
          <a:p>
            <a:pPr algn="l">
              <a:lnSpc>
                <a:spcPts val="5808"/>
              </a:lnSpc>
            </a:pPr>
            <a:r>
              <a:rPr lang="en-US" sz="5808" spc="-458">
                <a:solidFill>
                  <a:srgbClr val="000000"/>
                </a:solidFill>
                <a:latin typeface="Archivo Black"/>
                <a:ea typeface="Archivo Black"/>
                <a:cs typeface="Archivo Black"/>
                <a:sym typeface="Archivo Black"/>
              </a:rPr>
              <a:t>Effects on the Project</a:t>
            </a:r>
          </a:p>
        </p:txBody>
      </p:sp>
      <p:sp>
        <p:nvSpPr>
          <p:cNvPr name="TextBox 6" id="6"/>
          <p:cNvSpPr txBox="true"/>
          <p:nvPr/>
        </p:nvSpPr>
        <p:spPr>
          <a:xfrm rot="0">
            <a:off x="1028700" y="3636645"/>
            <a:ext cx="15841845" cy="2966085"/>
          </a:xfrm>
          <a:prstGeom prst="rect">
            <a:avLst/>
          </a:prstGeom>
        </p:spPr>
        <p:txBody>
          <a:bodyPr anchor="t" rtlCol="false" tIns="0" lIns="0" bIns="0" rIns="0">
            <a:spAutoFit/>
          </a:bodyPr>
          <a:lstStyle/>
          <a:p>
            <a:pPr algn="l">
              <a:lnSpc>
                <a:spcPts val="2939"/>
              </a:lnSpc>
              <a:spcBef>
                <a:spcPct val="0"/>
              </a:spcBef>
            </a:pPr>
            <a:r>
              <a:rPr lang="en-US" sz="2099">
                <a:solidFill>
                  <a:srgbClr val="000000"/>
                </a:solidFill>
                <a:latin typeface="Garet"/>
                <a:ea typeface="Garet"/>
                <a:cs typeface="Garet"/>
                <a:sym typeface="Garet"/>
              </a:rPr>
              <a:t>The f</a:t>
            </a:r>
            <a:r>
              <a:rPr lang="en-US" sz="2099">
                <a:solidFill>
                  <a:srgbClr val="000000"/>
                </a:solidFill>
                <a:latin typeface="Garet"/>
                <a:ea typeface="Garet"/>
                <a:cs typeface="Garet"/>
                <a:sym typeface="Garet"/>
              </a:rPr>
              <a:t>eedback obtained during the TIGA process directly influenced several improvements in the project.</a:t>
            </a:r>
          </a:p>
          <a:p>
            <a:pPr algn="l">
              <a:lnSpc>
                <a:spcPts val="2939"/>
              </a:lnSpc>
              <a:spcBef>
                <a:spcPct val="0"/>
              </a:spcBef>
            </a:pPr>
            <a:r>
              <a:rPr lang="en-US" sz="2099">
                <a:solidFill>
                  <a:srgbClr val="000000"/>
                </a:solidFill>
                <a:latin typeface="Garet"/>
                <a:ea typeface="Garet"/>
                <a:cs typeface="Garet"/>
                <a:sym typeface="Garet"/>
              </a:rPr>
              <a:t>Implemented improvements:</a:t>
            </a:r>
          </a:p>
          <a:p>
            <a:pPr algn="l">
              <a:lnSpc>
                <a:spcPts val="2939"/>
              </a:lnSpc>
              <a:spcBef>
                <a:spcPct val="0"/>
              </a:spcBef>
            </a:pPr>
            <a:r>
              <a:rPr lang="en-US" sz="2099">
                <a:solidFill>
                  <a:srgbClr val="000000"/>
                </a:solidFill>
                <a:latin typeface="Garet"/>
                <a:ea typeface="Garet"/>
                <a:cs typeface="Garet"/>
                <a:sym typeface="Garet"/>
              </a:rPr>
              <a:t>• Adoption of class-specific threshold optimization to improve diagnostic performance.</a:t>
            </a:r>
          </a:p>
          <a:p>
            <a:pPr algn="l">
              <a:lnSpc>
                <a:spcPts val="2939"/>
              </a:lnSpc>
              <a:spcBef>
                <a:spcPct val="0"/>
              </a:spcBef>
            </a:pPr>
            <a:r>
              <a:rPr lang="en-US" sz="2099">
                <a:solidFill>
                  <a:srgbClr val="000000"/>
                </a:solidFill>
                <a:latin typeface="Garet"/>
                <a:ea typeface="Garet"/>
                <a:cs typeface="Garet"/>
                <a:sym typeface="Garet"/>
              </a:rPr>
              <a:t>• Development of contour-based Grad-CAM++ visualizations for better interpretability.</a:t>
            </a:r>
          </a:p>
          <a:p>
            <a:pPr algn="l">
              <a:lnSpc>
                <a:spcPts val="2939"/>
              </a:lnSpc>
              <a:spcBef>
                <a:spcPct val="0"/>
              </a:spcBef>
            </a:pPr>
            <a:r>
              <a:rPr lang="en-US" sz="2099">
                <a:solidFill>
                  <a:srgbClr val="000000"/>
                </a:solidFill>
                <a:latin typeface="Garet"/>
                <a:ea typeface="Garet"/>
                <a:cs typeface="Garet"/>
                <a:sym typeface="Garet"/>
              </a:rPr>
              <a:t>• Enhancement of backend security through protocol-based anonymization and role-based access control.</a:t>
            </a:r>
          </a:p>
          <a:p>
            <a:pPr algn="l">
              <a:lnSpc>
                <a:spcPts val="2939"/>
              </a:lnSpc>
              <a:spcBef>
                <a:spcPct val="0"/>
              </a:spcBef>
            </a:pPr>
            <a:r>
              <a:rPr lang="en-US" sz="2099">
                <a:solidFill>
                  <a:srgbClr val="000000"/>
                </a:solidFill>
                <a:latin typeface="Garet"/>
                <a:ea typeface="Garet"/>
                <a:cs typeface="Garet"/>
                <a:sym typeface="Garet"/>
              </a:rPr>
              <a:t>• Refinement of the mobile user interface to support clinical workflows more effectively.</a:t>
            </a:r>
          </a:p>
          <a:p>
            <a:pPr algn="l">
              <a:lnSpc>
                <a:spcPts val="2939"/>
              </a:lnSpc>
              <a:spcBef>
                <a:spcPct val="0"/>
              </a:spcBef>
            </a:pPr>
            <a:r>
              <a:rPr lang="en-US" sz="2099">
                <a:solidFill>
                  <a:srgbClr val="000000"/>
                </a:solidFill>
                <a:latin typeface="Garet"/>
                <a:ea typeface="Garet"/>
                <a:cs typeface="Garet"/>
                <a:sym typeface="Garet"/>
              </a:rPr>
              <a:t>As a result, the project became more reliable, explainable, and suitable for real-world healthcare environments.</a:t>
            </a:r>
          </a:p>
          <a:p>
            <a:pPr algn="l">
              <a:lnSpc>
                <a:spcPts val="2939"/>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2374691"/>
            <a:ext cx="10352968"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Conclusion &amp; Contributions</a:t>
            </a:r>
          </a:p>
        </p:txBody>
      </p:sp>
      <p:sp>
        <p:nvSpPr>
          <p:cNvPr name="TextBox 6" id="6"/>
          <p:cNvSpPr txBox="true"/>
          <p:nvPr/>
        </p:nvSpPr>
        <p:spPr>
          <a:xfrm rot="0">
            <a:off x="1028700" y="3636645"/>
            <a:ext cx="16230600" cy="408051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000000"/>
                </a:solidFill>
                <a:latin typeface="Garet"/>
                <a:ea typeface="Garet"/>
                <a:cs typeface="Garet"/>
                <a:sym typeface="Garet"/>
              </a:rPr>
              <a:t>A</a:t>
            </a:r>
            <a:r>
              <a:rPr lang="en-US" sz="2100" u="none">
                <a:solidFill>
                  <a:srgbClr val="000000"/>
                </a:solidFill>
                <a:latin typeface="Garet"/>
                <a:ea typeface="Garet"/>
                <a:cs typeface="Garet"/>
                <a:sym typeface="Garet"/>
              </a:rPr>
              <a:t> multi-label chest X-ray classification system was successfully developed using DenseNet-121 with CBAM attention modules, achieving a Macro F1 score of approximately 0.36, approaching human inter-radiologist agreement on the NIH ChestX-ray14 dataset.</a:t>
            </a:r>
          </a:p>
          <a:p>
            <a:pPr algn="l" marL="453390" indent="-226695" lvl="1">
              <a:lnSpc>
                <a:spcPts val="2940"/>
              </a:lnSpc>
              <a:spcBef>
                <a:spcPct val="0"/>
              </a:spcBef>
              <a:buFont typeface="Arial"/>
              <a:buChar char="•"/>
            </a:pPr>
            <a:r>
              <a:rPr lang="en-US" sz="2100" u="none">
                <a:solidFill>
                  <a:srgbClr val="000000"/>
                </a:solidFill>
                <a:latin typeface="Garet"/>
                <a:ea typeface="Garet"/>
                <a:cs typeface="Garet"/>
                <a:sym typeface="Garet"/>
              </a:rPr>
              <a:t>GradCAM++ was implemented to provide spatial explainability, generating hollow vector contours that precisely localize detected pathologies on the X-ray without obstructing the underlying anatomy.</a:t>
            </a:r>
          </a:p>
          <a:p>
            <a:pPr algn="l" marL="453390" indent="-226695" lvl="1">
              <a:lnSpc>
                <a:spcPts val="2940"/>
              </a:lnSpc>
              <a:spcBef>
                <a:spcPct val="0"/>
              </a:spcBef>
              <a:buFont typeface="Arial"/>
              <a:buChar char="•"/>
            </a:pPr>
            <a:r>
              <a:rPr lang="en-US" sz="2100" u="none">
                <a:solidFill>
                  <a:srgbClr val="000000"/>
                </a:solidFill>
                <a:latin typeface="Garet"/>
                <a:ea typeface="Garet"/>
                <a:cs typeface="Garet"/>
                <a:sym typeface="Garet"/>
              </a:rPr>
              <a:t>A secure, cloud-based backend was built on MongoDB Atlas with decoupled collections, bcrypt password hashing, protocol ID anonymization, and a multi-stage doctor approval mechanism to ensure data integrity and clinical security.</a:t>
            </a:r>
          </a:p>
          <a:p>
            <a:pPr algn="l" marL="453390" indent="-226695" lvl="1">
              <a:lnSpc>
                <a:spcPts val="2940"/>
              </a:lnSpc>
              <a:spcBef>
                <a:spcPct val="0"/>
              </a:spcBef>
              <a:buFont typeface="Arial"/>
              <a:buChar char="•"/>
            </a:pPr>
            <a:r>
              <a:rPr lang="en-US" sz="2100" u="none">
                <a:solidFill>
                  <a:srgbClr val="000000"/>
                </a:solidFill>
                <a:latin typeface="Garet"/>
                <a:ea typeface="Garet"/>
                <a:cs typeface="Garet"/>
                <a:sym typeface="Garet"/>
              </a:rPr>
              <a:t>A fully functional React Native Interface was delivered, supporting role-based access, real-time analysis feedback, explainable AI visualization, physician reporting, and longitudinal patient archive management.</a:t>
            </a:r>
          </a:p>
          <a:p>
            <a:pPr algn="l">
              <a:lnSpc>
                <a:spcPts val="2940"/>
              </a:lnSpc>
              <a:spcBef>
                <a:spcPct val="0"/>
              </a:spcBef>
            </a:pP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AutoShape 3" id="3"/>
          <p:cNvSpPr/>
          <p:nvPr/>
        </p:nvSpPr>
        <p:spPr>
          <a:xfrm rot="0">
            <a:off x="-585133" y="8805859"/>
            <a:ext cx="18873133" cy="0"/>
          </a:xfrm>
          <a:prstGeom prst="line">
            <a:avLst/>
          </a:prstGeom>
          <a:ln cap="rnd" w="9525">
            <a:solidFill>
              <a:srgbClr val="000000"/>
            </a:solidFill>
            <a:prstDash val="solid"/>
            <a:headEnd type="none" len="sm" w="sm"/>
            <a:tailEnd type="none" len="sm" w="sm"/>
          </a:ln>
        </p:spPr>
      </p:sp>
      <p:sp>
        <p:nvSpPr>
          <p:cNvPr name="AutoShape 4" id="4"/>
          <p:cNvSpPr/>
          <p:nvPr/>
        </p:nvSpPr>
        <p:spPr>
          <a:xfrm rot="0">
            <a:off x="-585133" y="9334500"/>
            <a:ext cx="18873133" cy="0"/>
          </a:xfrm>
          <a:prstGeom prst="line">
            <a:avLst/>
          </a:prstGeom>
          <a:ln cap="rnd" w="9525">
            <a:solidFill>
              <a:srgbClr val="000000"/>
            </a:solidFill>
            <a:prstDash val="solid"/>
            <a:headEnd type="none" len="sm" w="sm"/>
            <a:tailEnd type="none" len="sm" w="sm"/>
          </a:ln>
        </p:spPr>
      </p:sp>
      <p:sp>
        <p:nvSpPr>
          <p:cNvPr name="TextBox 5" id="5"/>
          <p:cNvSpPr txBox="true"/>
          <p:nvPr/>
        </p:nvSpPr>
        <p:spPr>
          <a:xfrm rot="0">
            <a:off x="1028700" y="2931903"/>
            <a:ext cx="10352968" cy="785704"/>
          </a:xfrm>
          <a:prstGeom prst="rect">
            <a:avLst/>
          </a:prstGeom>
        </p:spPr>
        <p:txBody>
          <a:bodyPr anchor="t" rtlCol="false" tIns="0" lIns="0" bIns="0" rIns="0">
            <a:spAutoFit/>
          </a:bodyPr>
          <a:lstStyle/>
          <a:p>
            <a:pPr algn="l" marL="0" indent="0" lvl="0">
              <a:lnSpc>
                <a:spcPts val="5808"/>
              </a:lnSpc>
              <a:spcBef>
                <a:spcPct val="0"/>
              </a:spcBef>
            </a:pPr>
            <a:r>
              <a:rPr lang="en-US" sz="5808" spc="-458">
                <a:solidFill>
                  <a:srgbClr val="000000"/>
                </a:solidFill>
                <a:latin typeface="Archivo Black"/>
                <a:ea typeface="Archivo Black"/>
                <a:cs typeface="Archivo Black"/>
                <a:sym typeface="Archivo Black"/>
              </a:rPr>
              <a:t>Future Work</a:t>
            </a:r>
          </a:p>
        </p:txBody>
      </p:sp>
      <p:sp>
        <p:nvSpPr>
          <p:cNvPr name="TextBox 6" id="6"/>
          <p:cNvSpPr txBox="true"/>
          <p:nvPr/>
        </p:nvSpPr>
        <p:spPr>
          <a:xfrm rot="0">
            <a:off x="1028700" y="4193857"/>
            <a:ext cx="15055907" cy="37090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sz="2100">
                <a:solidFill>
                  <a:srgbClr val="000000"/>
                </a:solidFill>
                <a:latin typeface="Garet"/>
                <a:ea typeface="Garet"/>
                <a:cs typeface="Garet"/>
                <a:sym typeface="Garet"/>
              </a:rPr>
              <a:t>The model will be extended to include AP (Ante</a:t>
            </a:r>
            <a:r>
              <a:rPr lang="en-US" sz="2100" u="none">
                <a:solidFill>
                  <a:srgbClr val="000000"/>
                </a:solidFill>
                <a:latin typeface="Garet"/>
                <a:ea typeface="Garet"/>
                <a:cs typeface="Garet"/>
                <a:sym typeface="Garet"/>
              </a:rPr>
              <a:t>rior-Posterior) views alongside PA views to improve diagnostic reliability across different imaging positions.</a:t>
            </a:r>
          </a:p>
          <a:p>
            <a:pPr algn="l" marL="453390" indent="-226695" lvl="1">
              <a:lnSpc>
                <a:spcPts val="2940"/>
              </a:lnSpc>
              <a:spcBef>
                <a:spcPct val="0"/>
              </a:spcBef>
              <a:buFont typeface="Arial"/>
              <a:buChar char="•"/>
            </a:pPr>
            <a:r>
              <a:rPr lang="en-US" sz="2100" u="none">
                <a:solidFill>
                  <a:srgbClr val="000000"/>
                </a:solidFill>
                <a:latin typeface="Garet"/>
                <a:ea typeface="Garet"/>
                <a:cs typeface="Garet"/>
                <a:sym typeface="Garet"/>
              </a:rPr>
              <a:t>Loss fu</a:t>
            </a:r>
            <a:r>
              <a:rPr lang="en-US" sz="2100" u="none">
                <a:solidFill>
                  <a:srgbClr val="000000"/>
                </a:solidFill>
                <a:latin typeface="Garet"/>
                <a:ea typeface="Garet"/>
                <a:cs typeface="Garet"/>
                <a:sym typeface="Garet"/>
              </a:rPr>
              <a:t>nctions such as Focal Loss or Label Correlation Loss will be explored to better capture disease co-occurrence relationships and reduce false positives.</a:t>
            </a:r>
          </a:p>
          <a:p>
            <a:pPr algn="l" marL="453390" indent="-226695" lvl="1">
              <a:lnSpc>
                <a:spcPts val="2940"/>
              </a:lnSpc>
              <a:spcBef>
                <a:spcPct val="0"/>
              </a:spcBef>
              <a:buFont typeface="Arial"/>
              <a:buChar char="•"/>
            </a:pPr>
            <a:r>
              <a:rPr lang="en-US" sz="2100" u="none">
                <a:solidFill>
                  <a:srgbClr val="000000"/>
                </a:solidFill>
                <a:latin typeface="Garet"/>
                <a:ea typeface="Garet"/>
                <a:cs typeface="Garet"/>
                <a:sym typeface="Garet"/>
              </a:rPr>
              <a:t>The GradCAM++ pipeline will be enhanced with adaptive contour extraction to maintain structural accuracy for diffuse pathologies such as Infiltration and Edema.</a:t>
            </a:r>
          </a:p>
          <a:p>
            <a:pPr algn="l" marL="453390" indent="-226695" lvl="1">
              <a:lnSpc>
                <a:spcPts val="2940"/>
              </a:lnSpc>
              <a:spcBef>
                <a:spcPct val="0"/>
              </a:spcBef>
              <a:buFont typeface="Arial"/>
              <a:buChar char="•"/>
            </a:pPr>
            <a:r>
              <a:rPr lang="en-US" sz="2100" u="none">
                <a:solidFill>
                  <a:srgbClr val="000000"/>
                </a:solidFill>
                <a:latin typeface="Garet"/>
                <a:ea typeface="Garet"/>
                <a:cs typeface="Garet"/>
                <a:sym typeface="Garet"/>
              </a:rPr>
              <a:t>The database layer will be hardened by moving credentials to environment files, adding query indexes on frequently searched fields, and expanding the analyses collection to support doctor annotations and structured report generation.</a:t>
            </a:r>
          </a:p>
          <a:p>
            <a:pPr algn="l" marL="0" indent="0" lvl="0">
              <a:lnSpc>
                <a:spcPts val="2940"/>
              </a:lnSpc>
              <a:spcBef>
                <a:spcPct val="0"/>
              </a:spcBef>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TextBox 3" id="3"/>
          <p:cNvSpPr txBox="true"/>
          <p:nvPr/>
        </p:nvSpPr>
        <p:spPr>
          <a:xfrm rot="0">
            <a:off x="8294834" y="4921919"/>
            <a:ext cx="1698332" cy="662237"/>
          </a:xfrm>
          <a:prstGeom prst="rect">
            <a:avLst/>
          </a:prstGeom>
        </p:spPr>
        <p:txBody>
          <a:bodyPr anchor="t" rtlCol="false" tIns="0" lIns="0" bIns="0" rIns="0">
            <a:spAutoFit/>
          </a:bodyPr>
          <a:lstStyle/>
          <a:p>
            <a:pPr algn="l">
              <a:lnSpc>
                <a:spcPts val="4530"/>
              </a:lnSpc>
            </a:pPr>
            <a:r>
              <a:rPr lang="en-US" sz="5808" spc="-458">
                <a:solidFill>
                  <a:srgbClr val="000000"/>
                </a:solidFill>
                <a:latin typeface="Archivo Black"/>
                <a:ea typeface="Archivo Black"/>
                <a:cs typeface="Archivo Black"/>
                <a:sym typeface="Archivo Black"/>
              </a:rPr>
              <a:t>Q&amp;A</a:t>
            </a:r>
          </a:p>
        </p:txBody>
      </p:sp>
      <p:sp>
        <p:nvSpPr>
          <p:cNvPr name="TextBox 4" id="4"/>
          <p:cNvSpPr txBox="true"/>
          <p:nvPr/>
        </p:nvSpPr>
        <p:spPr>
          <a:xfrm rot="0">
            <a:off x="11505590" y="8892540"/>
            <a:ext cx="5753710" cy="365760"/>
          </a:xfrm>
          <a:prstGeom prst="rect">
            <a:avLst/>
          </a:prstGeom>
        </p:spPr>
        <p:txBody>
          <a:bodyPr anchor="t" rtlCol="false" tIns="0" lIns="0" bIns="0" rIns="0">
            <a:spAutoFit/>
          </a:bodyPr>
          <a:lstStyle/>
          <a:p>
            <a:pPr algn="r" marL="0" indent="0" lvl="0">
              <a:lnSpc>
                <a:spcPts val="2939"/>
              </a:lnSpc>
              <a:spcBef>
                <a:spcPct val="0"/>
              </a:spcBef>
            </a:pPr>
            <a:r>
              <a:rPr lang="en-US" sz="2099">
                <a:solidFill>
                  <a:srgbClr val="000000"/>
                </a:solidFill>
                <a:latin typeface="Garet"/>
                <a:ea typeface="Garet"/>
                <a:cs typeface="Garet"/>
                <a:sym typeface="Garet"/>
              </a:rPr>
              <a:t>CENG407</a:t>
            </a:r>
          </a:p>
        </p:txBody>
      </p:sp>
      <p:sp>
        <p:nvSpPr>
          <p:cNvPr name="AutoShape 5" id="5"/>
          <p:cNvSpPr/>
          <p:nvPr/>
        </p:nvSpPr>
        <p:spPr>
          <a:xfrm>
            <a:off x="-585133" y="8773477"/>
            <a:ext cx="18873133" cy="0"/>
          </a:xfrm>
          <a:prstGeom prst="line">
            <a:avLst/>
          </a:prstGeom>
          <a:ln cap="rnd" w="9525">
            <a:solidFill>
              <a:srgbClr val="000000"/>
            </a:solidFill>
            <a:prstDash val="solid"/>
            <a:headEnd type="none" len="sm" w="sm"/>
            <a:tailEnd type="none" len="sm" w="sm"/>
          </a:ln>
        </p:spPr>
      </p:sp>
      <p:sp>
        <p:nvSpPr>
          <p:cNvPr name="AutoShape 6" id="6"/>
          <p:cNvSpPr/>
          <p:nvPr/>
        </p:nvSpPr>
        <p:spPr>
          <a:xfrm>
            <a:off x="-585133" y="9424988"/>
            <a:ext cx="18873133" cy="0"/>
          </a:xfrm>
          <a:prstGeom prst="line">
            <a:avLst/>
          </a:prstGeom>
          <a:ln cap="rnd" w="9525">
            <a:solidFill>
              <a:srgbClr val="000000"/>
            </a:solidFill>
            <a:prstDash val="solid"/>
            <a:headEnd type="none" len="sm" w="sm"/>
            <a:tailEnd type="none" len="sm" w="sm"/>
          </a:ln>
        </p:spPr>
      </p:sp>
      <p:sp>
        <p:nvSpPr>
          <p:cNvPr name="TextBox 7" id="7"/>
          <p:cNvSpPr txBox="true"/>
          <p:nvPr/>
        </p:nvSpPr>
        <p:spPr>
          <a:xfrm rot="0">
            <a:off x="1694709" y="3051806"/>
            <a:ext cx="14898583" cy="1368424"/>
          </a:xfrm>
          <a:prstGeom prst="rect">
            <a:avLst/>
          </a:prstGeom>
        </p:spPr>
        <p:txBody>
          <a:bodyPr anchor="t" rtlCol="false" tIns="0" lIns="0" bIns="0" rIns="0">
            <a:spAutoFit/>
          </a:bodyPr>
          <a:lstStyle/>
          <a:p>
            <a:pPr algn="ctr" marL="0" indent="0" lvl="0">
              <a:lnSpc>
                <a:spcPts val="11200"/>
              </a:lnSpc>
              <a:spcBef>
                <a:spcPct val="0"/>
              </a:spcBef>
            </a:pPr>
            <a:r>
              <a:rPr lang="en-US" b="true" sz="8000">
                <a:solidFill>
                  <a:srgbClr val="000000"/>
                </a:solidFill>
                <a:latin typeface="Garet Bold"/>
                <a:ea typeface="Garet Bold"/>
                <a:cs typeface="Garet Bold"/>
                <a:sym typeface="Garet Bold"/>
              </a:rPr>
              <a:t>THANK YOU FOR LISTENING </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364" r="0" b="-3364"/>
            </a:stretch>
          </a:blipFill>
        </p:spPr>
      </p:sp>
      <p:sp>
        <p:nvSpPr>
          <p:cNvPr name="Freeform 3" id="3"/>
          <p:cNvSpPr/>
          <p:nvPr/>
        </p:nvSpPr>
        <p:spPr>
          <a:xfrm flipH="false" flipV="false" rot="0">
            <a:off x="14648272" y="7829356"/>
            <a:ext cx="2611028" cy="1428944"/>
          </a:xfrm>
          <a:custGeom>
            <a:avLst/>
            <a:gdLst/>
            <a:ahLst/>
            <a:cxnLst/>
            <a:rect r="r" b="b" t="t" l="l"/>
            <a:pathLst>
              <a:path h="1428944" w="2611028">
                <a:moveTo>
                  <a:pt x="0" y="0"/>
                </a:moveTo>
                <a:lnTo>
                  <a:pt x="2611028" y="0"/>
                </a:lnTo>
                <a:lnTo>
                  <a:pt x="2611028" y="1428944"/>
                </a:lnTo>
                <a:lnTo>
                  <a:pt x="0" y="14289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247775"/>
            <a:ext cx="5660824" cy="662237"/>
          </a:xfrm>
          <a:prstGeom prst="rect">
            <a:avLst/>
          </a:prstGeom>
        </p:spPr>
        <p:txBody>
          <a:bodyPr anchor="t" rtlCol="false" tIns="0" lIns="0" bIns="0" rIns="0">
            <a:spAutoFit/>
          </a:bodyPr>
          <a:lstStyle/>
          <a:p>
            <a:pPr algn="l" marL="0" indent="0" lvl="0">
              <a:lnSpc>
                <a:spcPts val="4530"/>
              </a:lnSpc>
              <a:spcBef>
                <a:spcPct val="0"/>
              </a:spcBef>
            </a:pPr>
            <a:r>
              <a:rPr lang="en-US" sz="5808" spc="-458">
                <a:solidFill>
                  <a:srgbClr val="000000"/>
                </a:solidFill>
                <a:latin typeface="Archivo Black"/>
                <a:ea typeface="Archivo Black"/>
                <a:cs typeface="Archivo Black"/>
                <a:sym typeface="Archivo Black"/>
              </a:rPr>
              <a:t>REFERANCES</a:t>
            </a:r>
          </a:p>
        </p:txBody>
      </p:sp>
      <p:sp>
        <p:nvSpPr>
          <p:cNvPr name="TextBox 5" id="5"/>
          <p:cNvSpPr txBox="true"/>
          <p:nvPr/>
        </p:nvSpPr>
        <p:spPr>
          <a:xfrm rot="0">
            <a:off x="1028700" y="4509956"/>
            <a:ext cx="7897118" cy="2101850"/>
          </a:xfrm>
          <a:prstGeom prst="rect">
            <a:avLst/>
          </a:prstGeom>
        </p:spPr>
        <p:txBody>
          <a:bodyPr anchor="t" rtlCol="false" tIns="0" lIns="0" bIns="0" rIns="0">
            <a:spAutoFit/>
          </a:bodyPr>
          <a:lstStyle/>
          <a:p>
            <a:pPr algn="l">
              <a:lnSpc>
                <a:spcPts val="2800"/>
              </a:lnSpc>
              <a:spcBef>
                <a:spcPct val="0"/>
              </a:spcBef>
            </a:pPr>
            <a:r>
              <a:rPr lang="en-US" b="true" sz="2000" spc="-158">
                <a:solidFill>
                  <a:srgbClr val="000000"/>
                </a:solidFill>
                <a:latin typeface="Garet Bold"/>
                <a:ea typeface="Garet Bold"/>
                <a:cs typeface="Garet Bold"/>
                <a:sym typeface="Garet Bold"/>
              </a:rPr>
              <a:t>Att</a:t>
            </a:r>
            <a:r>
              <a:rPr lang="en-US" b="true" sz="2000" spc="-158">
                <a:solidFill>
                  <a:srgbClr val="000000"/>
                </a:solidFill>
                <a:latin typeface="Garet Bold"/>
                <a:ea typeface="Garet Bold"/>
                <a:cs typeface="Garet Bold"/>
                <a:sym typeface="Garet Bold"/>
              </a:rPr>
              <a:t>ention &amp; Explainability</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Woo et al., CBAM: Convolutional Block Attention Module, ECCV 2018.</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Selvaraju et al., Grad-CAM, ICCV 2017.</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Chattopadhyay et al., Grad-CAM++, WACV 2018.</a:t>
            </a:r>
          </a:p>
          <a:p>
            <a:pPr algn="l">
              <a:lnSpc>
                <a:spcPts val="2800"/>
              </a:lnSpc>
              <a:spcBef>
                <a:spcPct val="0"/>
              </a:spcBef>
            </a:pPr>
          </a:p>
          <a:p>
            <a:pPr algn="l">
              <a:lnSpc>
                <a:spcPts val="2800"/>
              </a:lnSpc>
              <a:spcBef>
                <a:spcPct val="0"/>
              </a:spcBef>
            </a:pPr>
          </a:p>
        </p:txBody>
      </p:sp>
      <p:sp>
        <p:nvSpPr>
          <p:cNvPr name="TextBox 6" id="6"/>
          <p:cNvSpPr txBox="true"/>
          <p:nvPr/>
        </p:nvSpPr>
        <p:spPr>
          <a:xfrm rot="0">
            <a:off x="1028700" y="6573706"/>
            <a:ext cx="4002881" cy="1749425"/>
          </a:xfrm>
          <a:prstGeom prst="rect">
            <a:avLst/>
          </a:prstGeom>
        </p:spPr>
        <p:txBody>
          <a:bodyPr anchor="t" rtlCol="false" tIns="0" lIns="0" bIns="0" rIns="0">
            <a:spAutoFit/>
          </a:bodyPr>
          <a:lstStyle/>
          <a:p>
            <a:pPr algn="l">
              <a:lnSpc>
                <a:spcPts val="2800"/>
              </a:lnSpc>
              <a:spcBef>
                <a:spcPct val="0"/>
              </a:spcBef>
            </a:pPr>
            <a:r>
              <a:rPr lang="en-US" b="true" sz="2000" spc="-158">
                <a:solidFill>
                  <a:srgbClr val="000000"/>
                </a:solidFill>
                <a:latin typeface="Garet Bold"/>
                <a:ea typeface="Garet Bold"/>
                <a:cs typeface="Garet Bold"/>
                <a:sym typeface="Garet Bold"/>
              </a:rPr>
              <a:t>System T</a:t>
            </a:r>
            <a:r>
              <a:rPr lang="en-US" b="true" sz="2000" spc="-158">
                <a:solidFill>
                  <a:srgbClr val="000000"/>
                </a:solidFill>
                <a:latin typeface="Garet Bold"/>
                <a:ea typeface="Garet Bold"/>
                <a:cs typeface="Garet Bold"/>
                <a:sym typeface="Garet Bold"/>
              </a:rPr>
              <a:t>echnologies</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MongoDB Atlas Documentation.</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FastAPI Documentation.</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R</a:t>
            </a:r>
            <a:r>
              <a:rPr lang="en-US" sz="2000" spc="-158">
                <a:solidFill>
                  <a:srgbClr val="000000"/>
                </a:solidFill>
                <a:latin typeface="Garet"/>
                <a:ea typeface="Garet"/>
                <a:cs typeface="Garet"/>
                <a:sym typeface="Garet"/>
              </a:rPr>
              <a:t>eact Native Documentation.</a:t>
            </a:r>
          </a:p>
          <a:p>
            <a:pPr algn="l">
              <a:lnSpc>
                <a:spcPts val="2800"/>
              </a:lnSpc>
              <a:spcBef>
                <a:spcPct val="0"/>
              </a:spcBef>
            </a:pPr>
          </a:p>
        </p:txBody>
      </p:sp>
      <p:sp>
        <p:nvSpPr>
          <p:cNvPr name="TextBox 7" id="7"/>
          <p:cNvSpPr txBox="true"/>
          <p:nvPr/>
        </p:nvSpPr>
        <p:spPr>
          <a:xfrm rot="0">
            <a:off x="1028700" y="2160456"/>
            <a:ext cx="10511135" cy="2101850"/>
          </a:xfrm>
          <a:prstGeom prst="rect">
            <a:avLst/>
          </a:prstGeom>
        </p:spPr>
        <p:txBody>
          <a:bodyPr anchor="t" rtlCol="false" tIns="0" lIns="0" bIns="0" rIns="0">
            <a:spAutoFit/>
          </a:bodyPr>
          <a:lstStyle/>
          <a:p>
            <a:pPr algn="l">
              <a:lnSpc>
                <a:spcPts val="2800"/>
              </a:lnSpc>
              <a:spcBef>
                <a:spcPct val="0"/>
              </a:spcBef>
            </a:pPr>
            <a:r>
              <a:rPr lang="en-US" b="true" sz="2000" spc="-158">
                <a:solidFill>
                  <a:srgbClr val="000000"/>
                </a:solidFill>
                <a:latin typeface="Garet Bold"/>
                <a:ea typeface="Garet Bold"/>
                <a:cs typeface="Garet Bold"/>
                <a:sym typeface="Garet Bold"/>
              </a:rPr>
              <a:t>Cor</a:t>
            </a:r>
            <a:r>
              <a:rPr lang="en-US" b="true" sz="2000" spc="-158">
                <a:solidFill>
                  <a:srgbClr val="000000"/>
                </a:solidFill>
                <a:latin typeface="Garet Bold"/>
                <a:ea typeface="Garet Bold"/>
                <a:cs typeface="Garet Bold"/>
                <a:sym typeface="Garet Bold"/>
              </a:rPr>
              <a:t>e Studies &amp; Deep Learning</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Wang et al., ChestX-ray8: Hospital-scale Chest X-ray Database and Benchmarks, CVPR 2017.</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Huang et al., Densely Connected Convolutional Networks (DenseNet), CVPR 2017.</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R</a:t>
            </a:r>
            <a:r>
              <a:rPr lang="en-US" sz="2000" spc="-158">
                <a:solidFill>
                  <a:srgbClr val="000000"/>
                </a:solidFill>
                <a:latin typeface="Garet"/>
                <a:ea typeface="Garet"/>
                <a:cs typeface="Garet"/>
                <a:sym typeface="Garet"/>
              </a:rPr>
              <a:t>ajpurkar et al., CheXNet: Radiologist-Level Pneumonia Detection on Chest X-Rays, 2017.</a:t>
            </a:r>
          </a:p>
          <a:p>
            <a:pPr algn="l" marL="431801" indent="-215900" lvl="1">
              <a:lnSpc>
                <a:spcPts val="2800"/>
              </a:lnSpc>
              <a:spcBef>
                <a:spcPct val="0"/>
              </a:spcBef>
              <a:buFont typeface="Arial"/>
              <a:buChar char="•"/>
            </a:pPr>
            <a:r>
              <a:rPr lang="en-US" sz="2000" spc="-158">
                <a:solidFill>
                  <a:srgbClr val="000000"/>
                </a:solidFill>
                <a:latin typeface="Garet"/>
                <a:ea typeface="Garet"/>
                <a:cs typeface="Garet"/>
                <a:sym typeface="Garet"/>
              </a:rPr>
              <a:t>Irvin</a:t>
            </a:r>
            <a:r>
              <a:rPr lang="en-US" sz="2000" spc="-158">
                <a:solidFill>
                  <a:srgbClr val="000000"/>
                </a:solidFill>
                <a:latin typeface="Garet"/>
                <a:ea typeface="Garet"/>
                <a:cs typeface="Garet"/>
                <a:sym typeface="Garet"/>
              </a:rPr>
              <a:t> et al., CheXpert: A Large Chest Radiograph Dataset, AAAI 2019.</a:t>
            </a:r>
          </a:p>
          <a:p>
            <a:pPr algn="l">
              <a:lnSpc>
                <a:spcPts val="280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DAG9BAUQni0</dc:identifier>
  <dcterms:modified xsi:type="dcterms:W3CDTF">2011-08-01T06:04:30Z</dcterms:modified>
  <cp:revision>1</cp:revision>
  <dc:title>Beige and Black Minimalist Project Deck Presentation</dc:title>
</cp:coreProperties>
</file>